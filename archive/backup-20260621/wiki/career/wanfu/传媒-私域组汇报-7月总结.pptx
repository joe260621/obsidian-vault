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handoutMasterIdLst>
    <p:handoutMasterId r:id="rId11"/>
  </p:handoutMasterIdLst>
  <p:sldIdLst>
    <p:sldId id="256" r:id="rId3"/>
    <p:sldId id="271" r:id="rId4"/>
    <p:sldId id="272" r:id="rId5"/>
    <p:sldId id="294" r:id="rId7"/>
    <p:sldId id="311" r:id="rId8"/>
    <p:sldId id="301" r:id="rId9"/>
    <p:sldId id="303" r:id="rId10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92615117" name="Joe" initials="J" lastIdx="1" clrIdx="1"/>
  <p:cmAuthor id="3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1434"/>
    <a:srgbClr val="F2E7E2"/>
    <a:srgbClr val="AA5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3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600" y="5993081"/>
            <a:ext cx="10972800" cy="302896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ct val="0"/>
              </a:spcBef>
              <a:buSzTx/>
              <a:buNone/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1pPr>
            <a:lvl2pPr marL="44704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2pPr>
            <a:lvl3pPr marL="72009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3pPr>
            <a:lvl4pPr marL="99314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4pPr>
            <a:lvl5pPr marL="126619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5pPr>
          </a:lstStyle>
          <a:p>
            <a:r>
              <a:t>作者和日期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609600" y="1771650"/>
            <a:ext cx="10972800" cy="2133600"/>
          </a:xfrm>
          <a:prstGeom prst="rect">
            <a:avLst/>
          </a:prstGeom>
        </p:spPr>
        <p:txBody>
          <a:bodyPr anchor="b"/>
          <a:lstStyle>
            <a:lvl1pPr>
              <a:defRPr sz="6400" spc="-128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9600" y="3783790"/>
            <a:ext cx="10972800" cy="1125297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ct val="0"/>
              </a:spcBef>
              <a:buSzTx/>
              <a:buNone/>
              <a:defRPr sz="3000" spc="-100">
                <a:latin typeface="Avenir Next Demi Bold" panose="020B0503020202020204"/>
                <a:ea typeface="Avenir Next Demi Bold" panose="020B0503020202020204"/>
                <a:cs typeface="Avenir Next Demi Bold" panose="020B0503020202020204"/>
                <a:sym typeface="Avenir Next Demi Bold" panose="020B0503020202020204"/>
              </a:defRPr>
            </a:lvl1pPr>
          </a:lstStyle>
          <a:p>
            <a:r>
              <a:t>演示文稿副标题</a:t>
            </a:r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95670" y="6342380"/>
            <a:ext cx="204471" cy="2222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 userDrawn="1"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 userDrawn="1"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广州市万富传媒有限公司</a:t>
            </a:r>
            <a:endParaRPr lang="zh-CN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月度汇报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私域运营</a:t>
            </a:r>
            <a:endParaRPr lang="zh-CN" alt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Owned channels followers management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669290"/>
            <a:ext cx="11029315" cy="84137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微商城整体数据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464820" y="4959350"/>
            <a:ext cx="11035030" cy="140589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07/01-07/31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、微商城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访客人数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2,098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，下单单数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241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，环比分别上涨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749%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552%</a:t>
            </a:r>
            <a:b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、微商城客单价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1,012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付款金额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136,682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，环比分别上涨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50.75%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1489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%,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（核销金额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82,760.72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元）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分析与建议：增加了每月会员日活动（秒杀产品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优惠券），有效促进了流量的引入与转化，会员日的销售金额为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10,911.7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元；餐饮储值卡产品则提高了整体的客单价（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张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5,000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元餐饮储值卡）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，可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丰富会员日活动类型（下单送积分、满额赠礼等），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增加活动产品的类型和秒杀数量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r="1358"/>
          <a:stretch>
            <a:fillRect/>
          </a:stretch>
        </p:blipFill>
        <p:spPr>
          <a:xfrm>
            <a:off x="464820" y="2524125"/>
            <a:ext cx="5655945" cy="22904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765" y="3106420"/>
            <a:ext cx="4697730" cy="1536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微商城会员数据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92465" y="2236470"/>
            <a:ext cx="3420745" cy="4298315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07/01-07/31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、累积</a:t>
            </a:r>
            <a:r>
              <a:rPr 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会员</a:t>
            </a:r>
            <a:r>
              <a:rPr lang="en-US" altLang="zh-CN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63,545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，新增会员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823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endParaRPr lang="zh-CN" altLang="en-US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购买会员数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，消费金额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136,682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张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5,000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元餐饮储值卡）</a:t>
            </a:r>
            <a:endParaRPr kumimoji="0" 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购买会员中，普通卡会员在人数和消费金额上都为最多，分别为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人和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54,660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元，金卡会员人数第二，为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人，消费金额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24,725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而黑金卡消费金额排名第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47,078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分析与建议：</a:t>
            </a:r>
            <a:b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、直客通会员设置（浏览即为会员）较大的增加会员数量，建议设置绑定手机号有礼等活动，提高全量用户的触达率</a:t>
            </a:r>
            <a:endParaRPr lang="zh-CN" altLang="en-US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、储值卡消费拉高了整体的消费金额和客单价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、会员等级越高，复购率越高，客单价也越高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345" y="2146935"/>
            <a:ext cx="3920490" cy="19107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4555490"/>
            <a:ext cx="7666990" cy="21177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350" y="2236470"/>
            <a:ext cx="365760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微商城会员数据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52460" y="2236470"/>
            <a:ext cx="3479165" cy="346456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07/01-07/31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会员升级人数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黑金卡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升级人数最多，为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人，金卡次之，为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、购买会员数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人中，复购会员数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人，复购率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33%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，复购金额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46,073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元，复购金额占比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34%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分析与建议：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档会员等级中，金卡（消费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千以上，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万以下）的用户相对活跃，会员升级路径相对较快。而普通卡占比多，需持续观察，可通过会员活动筛选高活跃度的用户，再根据用户反馈做出相关调整</a:t>
            </a:r>
            <a:b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160" y="1974215"/>
            <a:ext cx="7160260" cy="26600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05" y="4814570"/>
            <a:ext cx="7606030" cy="11182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微商城商品数据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55740" y="2522220"/>
            <a:ext cx="5161915" cy="3449955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07/01-07/31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、商品浏览量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6,427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，商品访客数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3,410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，环比分别上涨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585%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2018%</a:t>
            </a:r>
            <a:endParaRPr lang="en-US" altLang="zh-CN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商品销量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，环比分别上涨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672%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Top3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商品来自康体中心</a:t>
            </a:r>
            <a:r>
              <a:rPr lang="zh-CN" altLang="en-US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健身游泳</a:t>
            </a:r>
            <a:r>
              <a:rPr lang="en-US" altLang="zh-CN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30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次卡</a:t>
            </a:r>
            <a:r>
              <a:rPr lang="zh-CN" altLang="en-US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、自助餐厅的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自助晚餐产品和</a:t>
            </a:r>
            <a:r>
              <a:rPr lang="en-US" altLang="zh-CN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人餐套票</a:t>
            </a:r>
            <a:endParaRPr lang="zh-CN" altLang="en-US" sz="12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分析与建议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、购买金额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Top10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中，自助餐餐厅产品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5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个，中餐厅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个，康体中心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个，其中自助晚餐产品的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访问客户与购买用户数最多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，分别为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363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人和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45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人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、会员日活动可增加高客单产品，如康体、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客房相关产品，丰富商城品类，从而提高会员日产品成交额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405" y="1790700"/>
            <a:ext cx="5774690" cy="49136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462915" y="597535"/>
            <a:ext cx="11280775" cy="485140"/>
          </a:xfrm>
          <a:solidFill>
            <a:srgbClr val="F2E7E2"/>
          </a:solidFill>
        </p:spPr>
        <p:txBody>
          <a:bodyPr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D1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2400" b="1" dirty="0">
                <a:solidFill>
                  <a:srgbClr val="4D1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月计划表</a:t>
            </a:r>
            <a:endParaRPr lang="zh-CN" altLang="en-US" sz="2400" b="1" dirty="0">
              <a:solidFill>
                <a:srgbClr val="4D14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967105" y="1758315"/>
          <a:ext cx="9404985" cy="4624070"/>
        </p:xfrm>
        <a:graphic>
          <a:graphicData uri="http://schemas.openxmlformats.org/drawingml/2006/table">
            <a:tbl>
              <a:tblPr/>
              <a:tblGrid>
                <a:gridCol w="1875155"/>
                <a:gridCol w="1828800"/>
                <a:gridCol w="5701030"/>
              </a:tblGrid>
              <a:tr h="3619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主要事项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执行计划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</a:tr>
              <a:tr h="6826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大健康业务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市场调研与品牌借鉴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全网搜集相关行业报告、品牌运营资料，整理提炼白牌起盘思路和运营逻辑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43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寻找产品与配方开发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寻找相应的供应商并沟通产品相关细节（配方开发寄样、口感测试、产品亮点等）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38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产品供应链管理与推进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新品方向确定及相关环节跟进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18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酒店商城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会员运营与相关制度</a:t>
                      </a:r>
                      <a:endParaRPr 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商城会员相关运营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Sop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跟进与数据汇总反馈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1820">
                <a:tc vMerge="1"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后台系统与数据分析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跟进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份数据表优化需求（会员管理数据表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场景数据报表）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用户运营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企微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朋友圈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定期互动、回复，朋友圈推送条数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月：回复私信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条、评论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条，朋友圈推送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，企微用户数：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0040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抖音评论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职人号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实时反馈评论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职人号每周统计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总评论数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好评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中差评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条；职人号：发布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7.6,&quot;left&quot;:36.6,&quot;top&quot;:179.9,&quot;width&quot;:901.85}"/>
</p:tagLst>
</file>

<file path=ppt/tags/tag2.xml><?xml version="1.0" encoding="utf-8"?>
<p:tagLst xmlns:p="http://schemas.openxmlformats.org/presentationml/2006/main">
  <p:tag name="TABLE_ENDDRAG_ORIGIN_RECT" val="740*351"/>
  <p:tag name="TABLE_ENDDRAG_RECT" val="76*138*740*351"/>
</p:tagLst>
</file>

<file path=ppt/tags/tag3.xml><?xml version="1.0" encoding="utf-8"?>
<p:tagLst xmlns:p="http://schemas.openxmlformats.org/presentationml/2006/main">
  <p:tag name="COMMONDATA" val="eyJoZGlkIjoiMzgzMTAyMzliNzMxMDkwNGJlMDk1MzBkZTc0MGFmYmUifQ==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0</TotalTime>
  <Words>1360</Words>
  <Application>WPS 演示</Application>
  <PresentationFormat>宽屏</PresentationFormat>
  <Paragraphs>100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Wingdings 2</vt:lpstr>
      <vt:lpstr>Avenir Next Medium</vt:lpstr>
      <vt:lpstr>ksdb</vt:lpstr>
      <vt:lpstr>Avenir Next Demi Bold</vt:lpstr>
      <vt:lpstr>微软雅黑</vt:lpstr>
      <vt:lpstr>华文中宋</vt:lpstr>
      <vt:lpstr>Gill Sans MT</vt:lpstr>
      <vt:lpstr>Arial Unicode MS</vt:lpstr>
      <vt:lpstr>Calibri</vt:lpstr>
      <vt:lpstr>Dividend</vt:lpstr>
      <vt:lpstr>广州市万富传媒有限公司</vt:lpstr>
      <vt:lpstr>私域运营</vt:lpstr>
      <vt:lpstr>微商城整体数据</vt:lpstr>
      <vt:lpstr>微商城会员数据</vt:lpstr>
      <vt:lpstr>微商城会员数据</vt:lpstr>
      <vt:lpstr>微商城商品数据</vt:lpstr>
      <vt:lpstr>PowerPoint 演示文稿</vt:lpstr>
    </vt:vector>
  </TitlesOfParts>
  <Company>Hilton Worldwide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广州市万富传媒有限公司</dc:title>
  <dc:creator>irisyu@na.hhcpr.hilton.com</dc:creator>
  <cp:lastModifiedBy>Joe</cp:lastModifiedBy>
  <cp:revision>154</cp:revision>
  <dcterms:created xsi:type="dcterms:W3CDTF">2024-11-01T07:33:00Z</dcterms:created>
  <dcterms:modified xsi:type="dcterms:W3CDTF">2025-08-06T01:24:51Z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1297B85DE142459190E5C768FCF6A19A_12</vt:lpwstr>
  </property>
  <property fmtid="{D5CDD505-2E9C-101B-9397-08002B2CF9AE}" pid="3" name="KSOProductBuildVer">
    <vt:lpwstr>2052-12.1.0.21915</vt:lpwstr>
  </property>
</Properties>
</file>