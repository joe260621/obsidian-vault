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F46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Microsoft YaHei"/>
              </a:defRPr>
            </a:pPr>
            <a:r>
              <a:t>AI 工具部署教程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7D2FE"/>
                </a:solidFill>
                <a:latin typeface="Microsoft YaHei"/>
              </a:defRPr>
            </a:pPr>
            <a:r>
              <a:t>从零开始 · 小白也能学会的 AI 工具安装指南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062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5B4FC"/>
                </a:solidFill>
                <a:latin typeface="Microsoft YaHei"/>
              </a:defRPr>
            </a:pPr>
            <a:r>
              <a:t>Claude Code 命令行版 · 实战教程 · 2026版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3035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18CF8"/>
                </a:solidFill>
                <a:latin typeface="Microsoft YaHei"/>
              </a:defRPr>
            </a:pPr>
            <a:r>
              <a:t>v1.0 · 2026-06-22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4F46E5"/>
                </a:solidFill>
                <a:latin typeface="Microsoft YaHei"/>
              </a:defRPr>
            </a:pPr>
            <a:r>
              <a:t>课程目录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1371600"/>
            <a:ext cx="502920" cy="50292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325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293B"/>
                </a:solidFill>
                <a:latin typeface="Microsoft YaHei"/>
              </a:defRPr>
            </a:pPr>
            <a:r>
              <a:t>认识 AI 工具部署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16916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Microsoft YaHei"/>
              </a:defRPr>
            </a:pPr>
            <a:r>
              <a:t>为什么需要 / 能做什么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2103120"/>
            <a:ext cx="502920" cy="50292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0574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293B"/>
                </a:solidFill>
                <a:latin typeface="Microsoft YaHei"/>
              </a:defRPr>
            </a:pPr>
            <a:r>
              <a:t>部署前的准备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423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Microsoft YaHei"/>
              </a:defRPr>
            </a:pPr>
            <a:r>
              <a:t>环境检查 / 工具对比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2834640"/>
            <a:ext cx="502920" cy="50292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788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293B"/>
                </a:solidFill>
                <a:latin typeface="Microsoft YaHei"/>
              </a:defRPr>
            </a:pPr>
            <a:r>
              <a:t>手把手安装教程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1546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Microsoft YaHei"/>
              </a:defRPr>
            </a:pPr>
            <a:r>
              <a:t>四步完成部署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" y="3566160"/>
            <a:ext cx="502920" cy="50292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5204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293B"/>
                </a:solidFill>
                <a:latin typeface="Microsoft YaHei"/>
              </a:defRPr>
            </a:pPr>
            <a:r>
              <a:t>配置与验证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862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Microsoft YaHei"/>
              </a:defRPr>
            </a:pPr>
            <a:r>
              <a:t>确保安装成功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97280" y="4297680"/>
            <a:ext cx="502920" cy="50292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2519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293B"/>
                </a:solidFill>
                <a:latin typeface="Microsoft YaHei"/>
              </a:defRPr>
            </a:pPr>
            <a:r>
              <a:t>常见问题排查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6177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Microsoft YaHei"/>
              </a:defRPr>
            </a:pPr>
            <a:r>
              <a:t>报错不求人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97280" y="5029200"/>
            <a:ext cx="502920" cy="50292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983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293B"/>
                </a:solidFill>
                <a:latin typeface="Microsoft YaHei"/>
              </a:defRPr>
            </a:pPr>
            <a:r>
              <a:t>安装后使用指南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5349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Microsoft YaHei"/>
              </a:defRPr>
            </a:pPr>
            <a:r>
              <a:t>快速上手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" y="5760720"/>
            <a:ext cx="502920" cy="50292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5715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293B"/>
                </a:solidFill>
                <a:latin typeface="Microsoft YaHei"/>
              </a:defRPr>
            </a:pPr>
            <a:r>
              <a:t>附录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60807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Microsoft YaHei"/>
              </a:defRPr>
            </a:pPr>
            <a:r>
              <a:t>速查表 / 资源链接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4F46E5"/>
                </a:solidFill>
                <a:latin typeface="Microsoft YaHei"/>
              </a:defRPr>
            </a:pPr>
            <a:r>
              <a:t>部署路线图</a:t>
            </a:r>
          </a:p>
        </p:txBody>
      </p:sp>
      <p:pic>
        <p:nvPicPr>
          <p:cNvPr id="3" name="Picture 2" descr="deployment_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11612880" cy="985876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4F46E5"/>
                </a:solidFill>
                <a:latin typeface="Microsoft YaHei"/>
              </a:defRPr>
            </a:pPr>
            <a:r>
              <a:t>安装前环境检查</a:t>
            </a:r>
          </a:p>
        </p:txBody>
      </p:sp>
      <p:pic>
        <p:nvPicPr>
          <p:cNvPr id="3" name="Picture 2" descr="env_check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247120" cy="68388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4F46E5"/>
                </a:solidFill>
                <a:latin typeface="Microsoft YaHei"/>
              </a:defRPr>
            </a:pPr>
            <a:r>
              <a:t>主流 AI 工具对比</a:t>
            </a:r>
          </a:p>
        </p:txBody>
      </p:sp>
      <p:pic>
        <p:nvPicPr>
          <p:cNvPr id="3" name="Picture 2" descr="too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822960"/>
            <a:ext cx="8503920" cy="530106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STEP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安装 Node.js 环境</a:t>
            </a:r>
          </a:p>
        </p:txBody>
      </p:sp>
      <p:sp>
        <p:nvSpPr>
          <p:cNvPr id="5" name="Oval 4"/>
          <p:cNvSpPr/>
          <p:nvPr/>
        </p:nvSpPr>
        <p:spPr>
          <a:xfrm>
            <a:off x="4754880" y="1024128"/>
            <a:ext cx="164592" cy="164592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20640" y="9144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E293B"/>
                </a:solidFill>
                <a:latin typeface="Microsoft YaHei"/>
              </a:defRPr>
            </a:pPr>
            <a:r>
              <a:t>浏览器打开 nodejs.org</a:t>
            </a:r>
          </a:p>
        </p:txBody>
      </p:sp>
      <p:sp>
        <p:nvSpPr>
          <p:cNvPr id="7" name="Oval 6"/>
          <p:cNvSpPr/>
          <p:nvPr/>
        </p:nvSpPr>
        <p:spPr>
          <a:xfrm>
            <a:off x="4754880" y="1847088"/>
            <a:ext cx="164592" cy="164592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0" y="173736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E293B"/>
                </a:solidFill>
                <a:latin typeface="Microsoft YaHei"/>
              </a:defRPr>
            </a:pPr>
            <a:r>
              <a:t>下载 LTS 版本（左侧绿色按钮）</a:t>
            </a:r>
          </a:p>
        </p:txBody>
      </p:sp>
      <p:sp>
        <p:nvSpPr>
          <p:cNvPr id="9" name="Oval 8"/>
          <p:cNvSpPr/>
          <p:nvPr/>
        </p:nvSpPr>
        <p:spPr>
          <a:xfrm>
            <a:off x="4754880" y="2670048"/>
            <a:ext cx="164592" cy="164592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0" y="25603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E293B"/>
                </a:solidFill>
                <a:latin typeface="Microsoft YaHei"/>
              </a:defRPr>
            </a:pPr>
            <a:r>
              <a:t>双击安装，一路 Next</a:t>
            </a:r>
          </a:p>
        </p:txBody>
      </p:sp>
      <p:sp>
        <p:nvSpPr>
          <p:cNvPr id="11" name="Oval 10"/>
          <p:cNvSpPr/>
          <p:nvPr/>
        </p:nvSpPr>
        <p:spPr>
          <a:xfrm>
            <a:off x="4754880" y="3493008"/>
            <a:ext cx="164592" cy="164592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33832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C2626"/>
                </a:solidFill>
                <a:latin typeface="Microsoft YaHei"/>
              </a:defRPr>
            </a:pPr>
            <a:r>
              <a:t>务必勾选「Add to PATH」！</a:t>
            </a:r>
          </a:p>
        </p:txBody>
      </p:sp>
      <p:sp>
        <p:nvSpPr>
          <p:cNvPr id="13" name="Oval 12"/>
          <p:cNvSpPr/>
          <p:nvPr/>
        </p:nvSpPr>
        <p:spPr>
          <a:xfrm>
            <a:off x="4754880" y="4315968"/>
            <a:ext cx="164592" cy="164592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0" y="420624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E293B"/>
                </a:solidFill>
                <a:latin typeface="Microsoft YaHei"/>
              </a:defRPr>
            </a:pPr>
            <a:r>
              <a:t>验证: 终端输入 node --version</a:t>
            </a:r>
          </a:p>
        </p:txBody>
      </p:sp>
      <p:sp>
        <p:nvSpPr>
          <p:cNvPr id="15" name="Oval 14"/>
          <p:cNvSpPr/>
          <p:nvPr/>
        </p:nvSpPr>
        <p:spPr>
          <a:xfrm>
            <a:off x="4754880" y="5138928"/>
            <a:ext cx="164592" cy="164592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50292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E293B"/>
                </a:solidFill>
                <a:latin typeface="Microsoft YaHei"/>
              </a:defRPr>
            </a:pPr>
            <a:r>
              <a:t>看到版本号 = 成功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STEP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获取 API Key</a:t>
            </a:r>
          </a:p>
        </p:txBody>
      </p:sp>
      <p:sp>
        <p:nvSpPr>
          <p:cNvPr id="5" name="Oval 4"/>
          <p:cNvSpPr/>
          <p:nvPr/>
        </p:nvSpPr>
        <p:spPr>
          <a:xfrm>
            <a:off x="4754880" y="1024128"/>
            <a:ext cx="164592" cy="164592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20640" y="9144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E293B"/>
                </a:solidFill>
                <a:latin typeface="Microsoft YaHei"/>
              </a:defRPr>
            </a:pPr>
            <a:r>
              <a:t>浏览器打开 console.anthropic.com</a:t>
            </a:r>
          </a:p>
        </p:txBody>
      </p:sp>
      <p:sp>
        <p:nvSpPr>
          <p:cNvPr id="7" name="Oval 6"/>
          <p:cNvSpPr/>
          <p:nvPr/>
        </p:nvSpPr>
        <p:spPr>
          <a:xfrm>
            <a:off x="4754880" y="1847088"/>
            <a:ext cx="164592" cy="164592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0" y="173736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E293B"/>
                </a:solidFill>
                <a:latin typeface="Microsoft YaHei"/>
              </a:defRPr>
            </a:pPr>
            <a:r>
              <a:t>注册/登录 Anthropic 账号</a:t>
            </a:r>
          </a:p>
        </p:txBody>
      </p:sp>
      <p:sp>
        <p:nvSpPr>
          <p:cNvPr id="9" name="Oval 8"/>
          <p:cNvSpPr/>
          <p:nvPr/>
        </p:nvSpPr>
        <p:spPr>
          <a:xfrm>
            <a:off x="4754880" y="2670048"/>
            <a:ext cx="164592" cy="164592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0" y="25603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E293B"/>
                </a:solidFill>
                <a:latin typeface="Microsoft YaHei"/>
              </a:defRPr>
            </a:pPr>
            <a:r>
              <a:t>左侧菜单 → API Keys → Create Key</a:t>
            </a:r>
          </a:p>
        </p:txBody>
      </p:sp>
      <p:sp>
        <p:nvSpPr>
          <p:cNvPr id="11" name="Oval 10"/>
          <p:cNvSpPr/>
          <p:nvPr/>
        </p:nvSpPr>
        <p:spPr>
          <a:xfrm>
            <a:off x="4754880" y="3493008"/>
            <a:ext cx="164592" cy="164592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33832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E293B"/>
                </a:solidFill>
                <a:latin typeface="Microsoft YaHei"/>
              </a:defRPr>
            </a:pPr>
            <a:r>
              <a:t>复制 Key (sk-ant-...开头)</a:t>
            </a:r>
          </a:p>
        </p:txBody>
      </p:sp>
      <p:sp>
        <p:nvSpPr>
          <p:cNvPr id="13" name="Oval 12"/>
          <p:cNvSpPr/>
          <p:nvPr/>
        </p:nvSpPr>
        <p:spPr>
          <a:xfrm>
            <a:off x="4754880" y="4315968"/>
            <a:ext cx="164592" cy="164592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0" y="420624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C2626"/>
                </a:solidFill>
                <a:latin typeface="Microsoft YaHei"/>
              </a:defRPr>
            </a:pPr>
            <a:r>
              <a:t>Key 只显示一次，立即保存！</a:t>
            </a:r>
          </a:p>
        </p:txBody>
      </p:sp>
      <p:sp>
        <p:nvSpPr>
          <p:cNvPr id="15" name="Oval 14"/>
          <p:cNvSpPr/>
          <p:nvPr/>
        </p:nvSpPr>
        <p:spPr>
          <a:xfrm>
            <a:off x="4754880" y="5138928"/>
            <a:ext cx="164592" cy="164592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50292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E293B"/>
                </a:solidFill>
                <a:latin typeface="Microsoft YaHei"/>
              </a:defRPr>
            </a:pPr>
            <a:r>
              <a:t>Billing 页面充值 (最低$5)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STEP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安装 Claude Code</a:t>
            </a:r>
          </a:p>
        </p:txBody>
      </p:sp>
      <p:sp>
        <p:nvSpPr>
          <p:cNvPr id="5" name="Oval 4"/>
          <p:cNvSpPr/>
          <p:nvPr/>
        </p:nvSpPr>
        <p:spPr>
          <a:xfrm>
            <a:off x="4754880" y="1024128"/>
            <a:ext cx="164592" cy="164592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20640" y="9144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E293B"/>
                </a:solidFill>
                <a:latin typeface="Microsoft YaHei"/>
              </a:defRPr>
            </a:pPr>
            <a:r>
              <a:t>打开终端 (管理员模式)</a:t>
            </a:r>
          </a:p>
        </p:txBody>
      </p:sp>
      <p:sp>
        <p:nvSpPr>
          <p:cNvPr id="7" name="Oval 6"/>
          <p:cNvSpPr/>
          <p:nvPr/>
        </p:nvSpPr>
        <p:spPr>
          <a:xfrm>
            <a:off x="4754880" y="1847088"/>
            <a:ext cx="164592" cy="164592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0" y="173736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E293B"/>
                </a:solidFill>
                <a:latin typeface="Microsoft YaHei"/>
              </a:defRPr>
            </a:pPr>
            <a:r>
              <a:t>npm install -g @anthropic-ai/claude-code</a:t>
            </a:r>
          </a:p>
        </p:txBody>
      </p:sp>
      <p:sp>
        <p:nvSpPr>
          <p:cNvPr id="9" name="Oval 8"/>
          <p:cNvSpPr/>
          <p:nvPr/>
        </p:nvSpPr>
        <p:spPr>
          <a:xfrm>
            <a:off x="4754880" y="2670048"/>
            <a:ext cx="164592" cy="164592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0" y="25603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E293B"/>
                </a:solidFill>
                <a:latin typeface="Microsoft YaHei"/>
              </a:defRPr>
            </a:pPr>
            <a:r>
              <a:t>等待 2-5 分钟下载</a:t>
            </a:r>
          </a:p>
        </p:txBody>
      </p:sp>
      <p:sp>
        <p:nvSpPr>
          <p:cNvPr id="11" name="Oval 10"/>
          <p:cNvSpPr/>
          <p:nvPr/>
        </p:nvSpPr>
        <p:spPr>
          <a:xfrm>
            <a:off x="4754880" y="3493008"/>
            <a:ext cx="164592" cy="164592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33832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E293B"/>
                </a:solidFill>
                <a:latin typeface="Microsoft YaHei"/>
              </a:defRPr>
            </a:pPr>
            <a:r>
              <a:t>验证: claude --version</a:t>
            </a:r>
          </a:p>
        </p:txBody>
      </p:sp>
      <p:sp>
        <p:nvSpPr>
          <p:cNvPr id="13" name="Oval 12"/>
          <p:cNvSpPr/>
          <p:nvPr/>
        </p:nvSpPr>
        <p:spPr>
          <a:xfrm>
            <a:off x="4754880" y="4315968"/>
            <a:ext cx="164592" cy="164592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0" y="420624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C2626"/>
                </a:solidFill>
                <a:latin typeface="Microsoft YaHei"/>
              </a:defRPr>
            </a:pPr>
            <a:r>
              <a:t>如报权限错，用管理员终端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STEP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配置 &amp; 验证</a:t>
            </a:r>
          </a:p>
        </p:txBody>
      </p:sp>
      <p:sp>
        <p:nvSpPr>
          <p:cNvPr id="5" name="Oval 4"/>
          <p:cNvSpPr/>
          <p:nvPr/>
        </p:nvSpPr>
        <p:spPr>
          <a:xfrm>
            <a:off x="4754880" y="1024128"/>
            <a:ext cx="164592" cy="16459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20640" y="9144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E293B"/>
                </a:solidFill>
                <a:latin typeface="Microsoft YaHei"/>
              </a:defRPr>
            </a:pPr>
            <a:r>
              <a:t>终端运行: claude login</a:t>
            </a:r>
          </a:p>
        </p:txBody>
      </p:sp>
      <p:sp>
        <p:nvSpPr>
          <p:cNvPr id="7" name="Oval 6"/>
          <p:cNvSpPr/>
          <p:nvPr/>
        </p:nvSpPr>
        <p:spPr>
          <a:xfrm>
            <a:off x="4754880" y="1847088"/>
            <a:ext cx="164592" cy="16459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0" y="173736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E293B"/>
                </a:solidFill>
                <a:latin typeface="Microsoft YaHei"/>
              </a:defRPr>
            </a:pPr>
            <a:r>
              <a:t>粘贴你的 API Key</a:t>
            </a:r>
          </a:p>
        </p:txBody>
      </p:sp>
      <p:sp>
        <p:nvSpPr>
          <p:cNvPr id="9" name="Oval 8"/>
          <p:cNvSpPr/>
          <p:nvPr/>
        </p:nvSpPr>
        <p:spPr>
          <a:xfrm>
            <a:off x="4754880" y="2670048"/>
            <a:ext cx="164592" cy="16459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0" y="25603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E293B"/>
                </a:solidFill>
                <a:latin typeface="Microsoft YaHei"/>
              </a:defRPr>
            </a:pPr>
            <a:r>
              <a:t>看到 ✓ 即配置成功</a:t>
            </a:r>
          </a:p>
        </p:txBody>
      </p:sp>
      <p:sp>
        <p:nvSpPr>
          <p:cNvPr id="11" name="Oval 10"/>
          <p:cNvSpPr/>
          <p:nvPr/>
        </p:nvSpPr>
        <p:spPr>
          <a:xfrm>
            <a:off x="4754880" y="3493008"/>
            <a:ext cx="164592" cy="16459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33832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E293B"/>
                </a:solidFill>
                <a:latin typeface="Microsoft YaHei"/>
              </a:defRPr>
            </a:pPr>
            <a:r>
              <a:t>测试: claude "你好"</a:t>
            </a:r>
          </a:p>
        </p:txBody>
      </p:sp>
      <p:sp>
        <p:nvSpPr>
          <p:cNvPr id="13" name="Oval 12"/>
          <p:cNvSpPr/>
          <p:nvPr/>
        </p:nvSpPr>
        <p:spPr>
          <a:xfrm>
            <a:off x="4754880" y="4315968"/>
            <a:ext cx="164592" cy="16459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0" y="420624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E293B"/>
                </a:solidFill>
                <a:latin typeface="Microsoft YaHei"/>
              </a:defRPr>
            </a:pPr>
            <a:r>
              <a:t>收到回复 = 部署完成！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4F46E5"/>
                </a:solidFill>
                <a:latin typeface="Microsoft YaHei"/>
              </a:defRPr>
            </a:pPr>
            <a:r>
              <a:t>四步法完整图解</a:t>
            </a:r>
          </a:p>
        </p:txBody>
      </p:sp>
      <p:pic>
        <p:nvPicPr>
          <p:cNvPr id="3" name="Picture 2" descr="install_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31520"/>
            <a:ext cx="11612880" cy="841504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4F46E5"/>
                </a:solidFill>
                <a:latin typeface="Microsoft YaHei"/>
              </a:defRPr>
            </a:pPr>
            <a:r>
              <a:t>常用命令速查表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188720"/>
            <a:ext cx="5029200" cy="59436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28016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F46E5"/>
                </a:solidFill>
                <a:latin typeface="Microsoft YaHei"/>
              </a:defRPr>
            </a:pPr>
            <a:r>
              <a:t>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801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75569"/>
                </a:solidFill>
                <a:latin typeface="Microsoft YaHei"/>
              </a:defRPr>
            </a:pPr>
            <a:r>
              <a:t>进入交互对话模式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965960"/>
            <a:ext cx="5029200" cy="59436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0574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F46E5"/>
                </a:solidFill>
                <a:latin typeface="Microsoft YaHei"/>
              </a:defRPr>
            </a:pPr>
            <a:r>
              <a:t>claude "问题"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0574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75569"/>
                </a:solidFill>
                <a:latin typeface="Microsoft YaHei"/>
              </a:defRPr>
            </a:pPr>
            <a:r>
              <a:t>单次提问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743200"/>
            <a:ext cx="5029200" cy="59436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83464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F46E5"/>
                </a:solidFill>
                <a:latin typeface="Microsoft YaHei"/>
              </a:defRPr>
            </a:pPr>
            <a:r>
              <a:t>claude --version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8346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75569"/>
                </a:solidFill>
                <a:latin typeface="Microsoft YaHei"/>
              </a:defRPr>
            </a:pPr>
            <a:r>
              <a:t>查看版本号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520439"/>
            <a:ext cx="5029200" cy="59436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611879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F46E5"/>
                </a:solidFill>
                <a:latin typeface="Microsoft YaHei"/>
              </a:defRPr>
            </a:pPr>
            <a:r>
              <a:t>claude login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611879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75569"/>
                </a:solidFill>
                <a:latin typeface="Microsoft YaHei"/>
              </a:defRPr>
            </a:pPr>
            <a:r>
              <a:t>重新登录 / 换Key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297680"/>
            <a:ext cx="5029200" cy="59436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38912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F46E5"/>
                </a:solidFill>
                <a:latin typeface="Microsoft YaHei"/>
              </a:defRPr>
            </a:pPr>
            <a:r>
              <a:t>npm update -g @anthropic-ai/claude-code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3891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75569"/>
                </a:solidFill>
                <a:latin typeface="Microsoft YaHei"/>
              </a:defRPr>
            </a:pPr>
            <a:r>
              <a:t>更新到最新版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5074920"/>
            <a:ext cx="5029200" cy="59436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166359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F46E5"/>
                </a:solidFill>
                <a:latin typeface="Microsoft YaHei"/>
              </a:defRPr>
            </a:pPr>
            <a:r>
              <a:t>npm uninstall -g @anthropic-ai/claude-code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5166359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75569"/>
                </a:solidFill>
                <a:latin typeface="Microsoft YaHei"/>
              </a:defRPr>
            </a:pPr>
            <a:r>
              <a:t>卸载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1188720"/>
            <a:ext cx="3200400" cy="4572000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20" y="13716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F46E5"/>
                </a:solidFill>
                <a:latin typeface="Microsoft YaHei"/>
              </a:defRPr>
            </a:pPr>
            <a:r>
              <a:t>小技巧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20116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Microsoft YaHei"/>
              </a:defRPr>
            </a:pPr>
            <a:r>
              <a:t>• 按 ↑ 键调出上一条命令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2468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Microsoft YaHei"/>
              </a:defRPr>
            </a:pPr>
            <a:r>
              <a:t>• Tab 键自动补全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29260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Microsoft YaHei"/>
              </a:defRPr>
            </a:pPr>
            <a:r>
              <a:t>• Ctrl+C 中断操作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33832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Microsoft YaHei"/>
              </a:defRPr>
            </a:pPr>
            <a:r>
              <a:t>• VSCode 插件版更方便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840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Microsoft YaHei"/>
              </a:defRPr>
            </a:pPr>
            <a:r>
              <a:t>• 建议每周更新一次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4F46E5"/>
                </a:solidFill>
                <a:latin typeface="Microsoft YaHei"/>
              </a:defRPr>
            </a:pPr>
            <a:r>
              <a:t>常见问题排查指南</a:t>
            </a:r>
          </a:p>
        </p:txBody>
      </p:sp>
      <p:pic>
        <p:nvPicPr>
          <p:cNvPr id="3" name="Picture 2" descr="troubleshoo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31520"/>
            <a:ext cx="11612880" cy="933902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4F46E5"/>
                </a:solidFill>
                <a:latin typeface="Microsoft YaHei"/>
              </a:defRPr>
            </a:pPr>
            <a:r>
              <a:t>高效使用技巧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2011680" cy="50292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E293B"/>
                </a:solidFill>
                <a:latin typeface="Microsoft YaHei"/>
              </a:defRPr>
            </a:pPr>
            <a:r>
              <a:t>越具体越好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01168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Microsoft YaHei"/>
              </a:defRPr>
            </a:pPr>
            <a:r>
              <a:t>模糊问题→模糊答案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65176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155"/>
                </a:solidFill>
                <a:latin typeface="Microsoft YaHei"/>
              </a:defRPr>
            </a:pPr>
            <a:r>
              <a:t>❌「写个方案」</a:t>
            </a:r>
            <a:br/>
            <a:r>
              <a:t>✅「写奶茶店抖音运营方案」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1188720"/>
            <a:ext cx="2011680" cy="50292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80360" y="13716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E293B"/>
                </a:solidFill>
                <a:latin typeface="Microsoft YaHei"/>
              </a:defRPr>
            </a:pPr>
            <a:r>
              <a:t>给上下文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201168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Microsoft YaHei"/>
              </a:defRPr>
            </a:pPr>
            <a:r>
              <a:t>告诉AI背景和目的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265176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155"/>
                </a:solidFill>
                <a:latin typeface="Microsoft YaHei"/>
              </a:defRPr>
            </a:pPr>
            <a:r>
              <a:t>「我是新手，请用小学生</a:t>
            </a:r>
            <a:br/>
            <a:r>
              <a:t>能懂的话解释」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1188720"/>
            <a:ext cx="2011680" cy="50292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66360" y="13716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E293B"/>
                </a:solidFill>
                <a:latin typeface="Microsoft YaHei"/>
              </a:defRPr>
            </a:pPr>
            <a:r>
              <a:t>可以追问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66360" y="201168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Microsoft YaHei"/>
              </a:defRPr>
            </a:pPr>
            <a:r>
              <a:t>不满意就让它改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6360" y="265176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155"/>
                </a:solidFill>
                <a:latin typeface="Microsoft YaHei"/>
              </a:defRPr>
            </a:pPr>
            <a:r>
              <a:t>「太长了，压缩到200字」</a:t>
            </a:r>
            <a:br/>
            <a:r>
              <a:t>「换个风格」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1188720"/>
            <a:ext cx="2011680" cy="50292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52360" y="13716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E293B"/>
                </a:solidFill>
                <a:latin typeface="Microsoft YaHei"/>
              </a:defRPr>
            </a:pPr>
            <a:r>
              <a:t>处理文件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01168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Microsoft YaHei"/>
              </a:defRPr>
            </a:pPr>
            <a:r>
              <a:t>能读写你的本地文件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360" y="265176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155"/>
                </a:solidFill>
                <a:latin typeface="Microsoft YaHei"/>
              </a:defRPr>
            </a:pPr>
            <a:r>
              <a:t>「分析这个CSV的</a:t>
            </a:r>
            <a:br/>
            <a:r>
              <a:t>销售趋势」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01200" y="1188720"/>
            <a:ext cx="2011680" cy="50292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38360" y="13716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E293B"/>
                </a:solidFill>
                <a:latin typeface="Microsoft YaHei"/>
              </a:defRPr>
            </a:pPr>
            <a:r>
              <a:t>定期更新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60" y="201168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Microsoft YaHei"/>
              </a:defRPr>
            </a:pPr>
            <a:r>
              <a:t>保持工具最新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38360" y="2651760"/>
            <a:ext cx="1737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155"/>
                </a:solidFill>
                <a:latin typeface="Microsoft YaHei"/>
              </a:defRPr>
            </a:pPr>
            <a:r>
              <a:t>npm update -g</a:t>
            </a:r>
            <a:br/>
            <a:r>
              <a:t>@anthropic-ai/claude-code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4F46E5"/>
                </a:solidFill>
                <a:latin typeface="Microsoft YaHei"/>
              </a:defRPr>
            </a:pPr>
            <a:r>
              <a:t>费用说明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371600"/>
            <a:ext cx="10058400" cy="12801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1371600"/>
            <a:ext cx="73152" cy="12801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508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293B"/>
                </a:solidFill>
                <a:latin typeface="Microsoft YaHei"/>
              </a:defRPr>
            </a:pPr>
            <a:r>
              <a:t>Claude Code 软件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1508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59669"/>
                </a:solidFill>
                <a:latin typeface="Microsoft YaHei"/>
              </a:defRPr>
            </a:pPr>
            <a:r>
              <a:t>完全免费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Microsoft YaHei"/>
              </a:defRPr>
            </a:pPr>
            <a:r>
              <a:t>开源工具，永久免费使用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3017520"/>
            <a:ext cx="10058400" cy="12801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3017520"/>
            <a:ext cx="73152" cy="12801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154679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293B"/>
                </a:solidFill>
                <a:latin typeface="Microsoft YaHei"/>
              </a:defRPr>
            </a:pPr>
            <a:r>
              <a:t>Anthropic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3154679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D97706"/>
                </a:solidFill>
                <a:latin typeface="Microsoft YaHei"/>
              </a:defRPr>
            </a:pPr>
            <a:r>
              <a:t>按量付费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6576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Microsoft YaHei"/>
              </a:defRPr>
            </a:pPr>
            <a:r>
              <a:t>月均约 ¥30-200（日常使用）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663440"/>
            <a:ext cx="10058400" cy="12801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4663440"/>
            <a:ext cx="73152" cy="12801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8006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293B"/>
                </a:solidFill>
                <a:latin typeface="Microsoft YaHei"/>
              </a:defRPr>
            </a:pPr>
            <a:r>
              <a:t>API 最低充值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4800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F46E5"/>
                </a:solidFill>
                <a:latin typeface="Microsoft YaHei"/>
              </a:defRPr>
            </a:pPr>
            <a:r>
              <a:t>$5 (约¥36)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53035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Microsoft YaHei"/>
              </a:defRPr>
            </a:pPr>
            <a:r>
              <a:t>够试用 1-2 周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F46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Microsoft YaHei"/>
              </a:defRPr>
            </a:pPr>
            <a:r>
              <a:t>恭喜完成学习！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7D2FE"/>
                </a:solidFill>
                <a:latin typeface="Microsoft YaHei"/>
              </a:defRPr>
            </a:pPr>
            <a:r>
              <a:t>现在你已经掌握了 AI 工具的完整部署流程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86000" y="3840480"/>
            <a:ext cx="2286000" cy="164592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68880" y="402336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打开终端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46634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7D2FE"/>
                </a:solidFill>
                <a:latin typeface="Microsoft YaHei"/>
              </a:defRPr>
            </a:pPr>
            <a:r>
              <a:t>运行第一条 AI 命令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0" y="3840480"/>
            <a:ext cx="2286000" cy="164592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0" y="402336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阅读文档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46634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7D2FE"/>
                </a:solidFill>
                <a:latin typeface="Microsoft YaHei"/>
              </a:defRPr>
            </a:pPr>
            <a:r>
              <a:t>docs.anthropic.com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3840480"/>
            <a:ext cx="2286000" cy="164592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79" y="402336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持续更新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46634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7D2FE"/>
                </a:solidFill>
                <a:latin typeface="Microsoft YaHei"/>
              </a:defRPr>
            </a:pPr>
            <a:r>
              <a:t>保持工具最新版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18CF8"/>
                </a:solidFill>
                <a:latin typeface="Microsoft YaHei"/>
              </a:defRPr>
            </a:pPr>
            <a:r>
              <a:t>教程 v1.0 · 2026-06-22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