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handoutMasterIdLst>
    <p:handoutMasterId r:id="rId13"/>
  </p:handoutMasterIdLst>
  <p:sldIdLst>
    <p:sldId id="256" r:id="rId3"/>
    <p:sldId id="271" r:id="rId4"/>
    <p:sldId id="272" r:id="rId5"/>
    <p:sldId id="294" r:id="rId7"/>
    <p:sldId id="311" r:id="rId8"/>
    <p:sldId id="301" r:id="rId9"/>
    <p:sldId id="312" r:id="rId10"/>
    <p:sldId id="313" r:id="rId11"/>
    <p:sldId id="303" r:id="rId12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92615117" name="Joe" initials="J" lastIdx="1" clrIdx="1"/>
  <p:cmAuthor id="3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1434"/>
    <a:srgbClr val="F2E7E2"/>
    <a:srgbClr val="AA5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3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9600" y="5993081"/>
            <a:ext cx="10972800" cy="302896"/>
          </a:xfrm>
          <a:prstGeom prst="rect">
            <a:avLst/>
          </a:prstGeom>
        </p:spPr>
        <p:txBody>
          <a:bodyPr/>
          <a:lstStyle>
            <a:lvl1pPr marL="0" indent="0" algn="ctr" defTabSz="784225">
              <a:lnSpc>
                <a:spcPct val="100000"/>
              </a:lnSpc>
              <a:spcBef>
                <a:spcPct val="0"/>
              </a:spcBef>
              <a:buSzTx/>
              <a:buNone/>
              <a:defRPr sz="1400" spc="-28">
                <a:latin typeface="Avenir Next Medium" panose="020B0503020202020204"/>
                <a:ea typeface="Avenir Next Medium" panose="020B0503020202020204"/>
                <a:cs typeface="Avenir Next Medium" panose="020B0503020202020204"/>
                <a:sym typeface="Avenir Next Medium" panose="020B0503020202020204"/>
              </a:defRPr>
            </a:lvl1pPr>
            <a:lvl2pPr marL="447040" indent="-173355" algn="ctr" defTabSz="784225">
              <a:lnSpc>
                <a:spcPct val="100000"/>
              </a:lnSpc>
              <a:spcBef>
                <a:spcPct val="0"/>
              </a:spcBef>
              <a:defRPr sz="1400" spc="-28">
                <a:latin typeface="Avenir Next Medium" panose="020B0503020202020204"/>
                <a:ea typeface="Avenir Next Medium" panose="020B0503020202020204"/>
                <a:cs typeface="Avenir Next Medium" panose="020B0503020202020204"/>
                <a:sym typeface="Avenir Next Medium" panose="020B0503020202020204"/>
              </a:defRPr>
            </a:lvl2pPr>
            <a:lvl3pPr marL="720090" indent="-173355" algn="ctr" defTabSz="784225">
              <a:lnSpc>
                <a:spcPct val="100000"/>
              </a:lnSpc>
              <a:spcBef>
                <a:spcPct val="0"/>
              </a:spcBef>
              <a:defRPr sz="1400" spc="-28">
                <a:latin typeface="Avenir Next Medium" panose="020B0503020202020204"/>
                <a:ea typeface="Avenir Next Medium" panose="020B0503020202020204"/>
                <a:cs typeface="Avenir Next Medium" panose="020B0503020202020204"/>
                <a:sym typeface="Avenir Next Medium" panose="020B0503020202020204"/>
              </a:defRPr>
            </a:lvl3pPr>
            <a:lvl4pPr marL="993140" indent="-173355" algn="ctr" defTabSz="784225">
              <a:lnSpc>
                <a:spcPct val="100000"/>
              </a:lnSpc>
              <a:spcBef>
                <a:spcPct val="0"/>
              </a:spcBef>
              <a:defRPr sz="1400" spc="-28">
                <a:latin typeface="Avenir Next Medium" panose="020B0503020202020204"/>
                <a:ea typeface="Avenir Next Medium" panose="020B0503020202020204"/>
                <a:cs typeface="Avenir Next Medium" panose="020B0503020202020204"/>
                <a:sym typeface="Avenir Next Medium" panose="020B0503020202020204"/>
              </a:defRPr>
            </a:lvl4pPr>
            <a:lvl5pPr marL="1266190" indent="-173355" algn="ctr" defTabSz="784225">
              <a:lnSpc>
                <a:spcPct val="100000"/>
              </a:lnSpc>
              <a:spcBef>
                <a:spcPct val="0"/>
              </a:spcBef>
              <a:defRPr sz="1400" spc="-28">
                <a:latin typeface="Avenir Next Medium" panose="020B0503020202020204"/>
                <a:ea typeface="Avenir Next Medium" panose="020B0503020202020204"/>
                <a:cs typeface="Avenir Next Medium" panose="020B0503020202020204"/>
                <a:sym typeface="Avenir Next Medium" panose="020B0503020202020204"/>
              </a:defRPr>
            </a:lvl5pPr>
          </a:lstStyle>
          <a:p>
            <a:r>
              <a:t>作者和日期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2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609600" y="1771650"/>
            <a:ext cx="10972800" cy="2133600"/>
          </a:xfrm>
          <a:prstGeom prst="rect">
            <a:avLst/>
          </a:prstGeom>
        </p:spPr>
        <p:txBody>
          <a:bodyPr anchor="b"/>
          <a:lstStyle>
            <a:lvl1pPr>
              <a:defRPr sz="6400" spc="-128"/>
            </a:lvl1pPr>
          </a:lstStyle>
          <a:p>
            <a:r>
              <a:t>演示文稿标题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9600" y="3783790"/>
            <a:ext cx="10972800" cy="1125297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ct val="0"/>
              </a:spcBef>
              <a:buSzTx/>
              <a:buNone/>
              <a:defRPr sz="3000" spc="-100">
                <a:latin typeface="Avenir Next Demi Bold" panose="020B0503020202020204"/>
                <a:ea typeface="Avenir Next Demi Bold" panose="020B0503020202020204"/>
                <a:cs typeface="Avenir Next Demi Bold" panose="020B0503020202020204"/>
                <a:sym typeface="Avenir Next Demi Bold" panose="020B0503020202020204"/>
              </a:defRPr>
            </a:lvl1pPr>
          </a:lstStyle>
          <a:p>
            <a:r>
              <a:t>演示文稿副标题</a:t>
            </a:r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995670" y="6342380"/>
            <a:ext cx="204471" cy="22225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 userDrawn="1"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 userDrawn="1"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60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105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广州市万富传媒有限公司</a:t>
            </a:r>
            <a:endParaRPr lang="zh-CN" alt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月度汇报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私域运营</a:t>
            </a:r>
            <a:endParaRPr lang="zh-CN" alt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Owned channels followers management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669290"/>
            <a:ext cx="11029315" cy="84137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微商城整体数据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"/>
            </p:custDataLst>
          </p:nvPr>
        </p:nvSpPr>
        <p:spPr>
          <a:xfrm>
            <a:off x="464820" y="4959350"/>
            <a:ext cx="11035030" cy="1405890"/>
          </a:xfrm>
          <a:prstGeom prst="rect">
            <a:avLst/>
          </a:prstGeom>
          <a:solidFill>
            <a:srgbClr val="F2E7E2"/>
          </a:solidFill>
          <a:ln>
            <a:noFill/>
          </a:ln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08/01-08/31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、微商城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访客人数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2,162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，下单单数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408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，环比分别上涨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3.1%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69.29%</a:t>
            </a:r>
            <a:b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、微商城客单价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854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元，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付款金额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192,262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，环比分别下跌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15.61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%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和上涨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40.66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%,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（核销金额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185451.58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元）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分析：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月粉丝日活动销售额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26,568.2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元，有效促进了流量的引入与转化；餐饮储值卡产品则提高了整体的客单价（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张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5,000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元餐饮储值卡）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，可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丰富粉丝日活动类型（下单送积分、满额赠礼等），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增加活动产品的类型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" y="2903855"/>
            <a:ext cx="4950460" cy="16611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245" y="3155315"/>
            <a:ext cx="6110605" cy="1336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702310"/>
            <a:ext cx="11029315" cy="83756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微商城粉丝数据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292465" y="2236470"/>
            <a:ext cx="3420745" cy="4298315"/>
          </a:xfrm>
          <a:prstGeom prst="rect">
            <a:avLst/>
          </a:prstGeom>
          <a:solidFill>
            <a:srgbClr val="F2E7E2"/>
          </a:solidFill>
          <a:ln>
            <a:noFill/>
          </a:ln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08/01-08/31</a:t>
            </a:r>
            <a:endParaRPr lang="en-US" altLang="zh-CN" sz="12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、累积</a:t>
            </a:r>
            <a:r>
              <a:rPr 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粉丝</a:t>
            </a:r>
            <a:r>
              <a:rPr lang="en-US" altLang="zh-CN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64,301</a:t>
            </a: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，新增粉丝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756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</a:t>
            </a:r>
            <a:endParaRPr lang="zh-CN" altLang="en-US" sz="12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kumimoji="0" 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购买粉丝数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216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，消费金额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192,262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kumimoji="0" 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购买粉丝中，普通卡粉丝在人数和消费金额上都为最多，分别为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172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人和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107,985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元，金卡粉丝人数第二，为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24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人，消费金额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55,831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分析与建议：</a:t>
            </a:r>
            <a:b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、浏览类型粉丝占比量较大，画像不清晰，建议设置</a:t>
            </a: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关注公众号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绑定手机号有礼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等活动，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增加该类粉丝触达量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完善该类用户的画像，</a:t>
            </a:r>
            <a:endParaRPr lang="zh-CN" altLang="en-US" sz="12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、储值卡消费拉高了整体的消费金额和客单价</a:t>
            </a: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、粉丝等级越高，复购率越高，客单价也越高</a:t>
            </a: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585" y="2211705"/>
            <a:ext cx="3777615" cy="20091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950" y="2236470"/>
            <a:ext cx="3866515" cy="1984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70" y="4673600"/>
            <a:ext cx="7897495" cy="18611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702310"/>
            <a:ext cx="11029315" cy="83756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微商城粉丝数据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252460" y="2236470"/>
            <a:ext cx="3479165" cy="3464560"/>
          </a:xfrm>
          <a:prstGeom prst="rect">
            <a:avLst/>
          </a:prstGeom>
          <a:solidFill>
            <a:srgbClr val="F2E7E2"/>
          </a:solidFill>
          <a:ln>
            <a:noFill/>
          </a:ln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08/01-08/31</a:t>
            </a:r>
            <a:endParaRPr lang="en-US" altLang="zh-CN" sz="12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kumimoji="0" 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粉丝</a:t>
            </a:r>
            <a:r>
              <a:rPr kumimoji="0" 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升级人数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人，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金卡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升级人数最多，为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人，黑金卡次之，为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、购买粉丝数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216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人中，复购粉丝数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89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人，复购率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33%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，复购金额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62,600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元，复购金额占比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33%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分析与建议：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档粉丝等级中，普通卡用户较上月活跃，升级至金卡的人数最多，金卡用户次之，可根据粉丝情况继续丰富等级权益，增加相应卡类升级人数</a:t>
            </a:r>
            <a:b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905" y="2236470"/>
            <a:ext cx="7332980" cy="21342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4538980"/>
            <a:ext cx="7605395" cy="1162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702310"/>
            <a:ext cx="11029315" cy="83756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微商城商品数据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567170" y="2522220"/>
            <a:ext cx="5161915" cy="3700780"/>
          </a:xfrm>
          <a:prstGeom prst="rect">
            <a:avLst/>
          </a:prstGeom>
          <a:solidFill>
            <a:srgbClr val="F2E7E2"/>
          </a:solidFill>
          <a:ln>
            <a:noFill/>
          </a:ln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08/01-08/31</a:t>
            </a:r>
            <a:endParaRPr lang="en-US" altLang="zh-CN" sz="1200" b="1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、商品浏览量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,905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，商品访客数</a:t>
            </a:r>
            <a:r>
              <a:rPr lang="en-US" altLang="zh-CN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1,674</a:t>
            </a:r>
            <a:endParaRPr lang="en-US" altLang="zh-CN" sz="1200" b="1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kumimoji="0" 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商品销量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253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，环比上涨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31%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Top3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商品来自自助餐</a:t>
            </a:r>
            <a:r>
              <a:rPr lang="zh-CN" altLang="en-US" sz="1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</a:t>
            </a: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夏日海岛味觉乐园</a:t>
            </a:r>
            <a:r>
              <a:rPr lang="zh-CN" altLang="en-US" sz="1200" b="1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人餐</a:t>
            </a:r>
            <a:r>
              <a:rPr lang="en-US" altLang="zh-CN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·</a:t>
            </a: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周一至周四海鲜自助晚餐</a:t>
            </a:r>
            <a:r>
              <a:rPr lang="zh-CN" altLang="en-US" sz="1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和客房的</a:t>
            </a:r>
            <a:r>
              <a:rPr lang="zh-CN" altLang="en-US" sz="12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希尔顿行政套房一晚含两大一小早餐</a:t>
            </a:r>
            <a:endParaRPr lang="zh-CN" altLang="en-US" sz="12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分析与建议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1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、购买金额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Top10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中，自助餐餐厅产品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4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个，中餐厅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4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个，康体中心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2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个，其中自助晚餐产品的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访问客户与购买用户数最多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，分别为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311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人和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68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人</a:t>
            </a: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2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、大促活动：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储值卡类可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增加档位福利机制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（如增加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5000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8000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元中间档位）测试高客单价接受度</a:t>
            </a: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健身中心类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产品可新增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老带新活动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，吸引新客户（如邀请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位新客（实名认证），邀请者和被邀请者皆可获得赠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健身游泳体验券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张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大堂吧蛋糕券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张等</a:t>
            </a: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0" y="1805305"/>
            <a:ext cx="5896610" cy="49460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702310"/>
            <a:ext cx="11029315" cy="83756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大健康业务相关调研小结（一）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1660" y="2019935"/>
            <a:ext cx="11147425" cy="4610100"/>
          </a:xfrm>
          <a:prstGeom prst="rect">
            <a:avLst/>
          </a:prstGeom>
          <a:solidFill>
            <a:srgbClr val="F2E7E2"/>
          </a:solidFill>
          <a:ln>
            <a:noFill/>
          </a:ln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02360" y="2468245"/>
            <a:ext cx="4457700" cy="2418080"/>
          </a:xfrm>
          <a:prstGeom prst="rect">
            <a:avLst/>
          </a:prstGeom>
        </p:spPr>
        <p:txBody>
          <a:bodyPr wrap="square">
            <a:noAutofit/>
          </a:bodyPr>
          <a:p>
            <a:pPr defTabSz="266700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二、四大主力人群画像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（一）职场精进派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高压打工人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endParaRPr lang="en-US" altLang="zh-CN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、用户画像：大城市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26-40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岁，加班熬夜多，亚健康问题突出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、需求：最关心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​​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抗疲劳、睡好觉、稳住情绪，好继续拼工作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23660" y="2468245"/>
            <a:ext cx="4556760" cy="2167255"/>
          </a:xfrm>
          <a:prstGeom prst="rect">
            <a:avLst/>
          </a:prstGeom>
        </p:spPr>
        <p:txBody>
          <a:bodyPr wrap="square">
            <a:noAutofit/>
          </a:bodyPr>
          <a:p>
            <a:pPr defTabSz="266700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二）悦己健康派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精致养生族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endParaRPr lang="en-US" altLang="zh-CN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、用户画像：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一线城市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26-35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岁中产女性，爱自己，追求身心平衡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、健康是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宠爱自己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！追求由内而外的状态好（气色、皮肤、身材），重视情绪价值和天然成分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23660" y="4432935"/>
            <a:ext cx="4457700" cy="1760220"/>
          </a:xfrm>
          <a:prstGeom prst="rect">
            <a:avLst/>
          </a:prstGeom>
        </p:spPr>
        <p:txBody>
          <a:bodyPr wrap="square">
            <a:noAutofit/>
          </a:bodyPr>
          <a:p>
            <a:pPr defTabSz="266700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defTabSz="266700"/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四）银发活力派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积极退休族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endParaRPr lang="en-US" altLang="zh-CN" sz="14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defTabSz="266700"/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、用户画像：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50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岁以上退休人群，有时间，追求高质量晚年生活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defTabSz="266700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、需求：健康是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幸福晚年保障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！关注基础病管理（心脑、关节）和日常调理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​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02360" y="4671695"/>
            <a:ext cx="4457700" cy="1689100"/>
          </a:xfrm>
          <a:prstGeom prst="rect">
            <a:avLst/>
          </a:prstGeom>
        </p:spPr>
        <p:txBody>
          <a:bodyPr wrap="square">
            <a:noAutofit/>
          </a:bodyPr>
          <a:p>
            <a:pPr defTabSz="266700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（三）运动塑身派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健身自律党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endParaRPr lang="en-US" altLang="zh-CN" sz="1400" b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defTabSz="266700"/>
            <a:endParaRPr lang="en-US" altLang="zh-CN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、用户画像：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26-40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岁中青年，规律运动，目标明确（增肌减脂、提升体能）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defTabSz="266700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、需求：健康是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身材管理工具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！讲究科学搭配，吃动结合要效果，也要精准补充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02360" y="2198370"/>
            <a:ext cx="9415145" cy="530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一、核心结论：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 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情绪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肠道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心脑血管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是三大黄金赛道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81025" y="702310"/>
            <a:ext cx="11029315" cy="837565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大健康业务相关调研小结（二）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1660" y="2019935"/>
            <a:ext cx="11147425" cy="4610100"/>
          </a:xfrm>
          <a:prstGeom prst="rect">
            <a:avLst/>
          </a:prstGeom>
          <a:solidFill>
            <a:srgbClr val="F2E7E2"/>
          </a:solidFill>
          <a:ln>
            <a:noFill/>
          </a:ln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2810" y="2214880"/>
            <a:ext cx="10717530" cy="3331210"/>
          </a:xfrm>
          <a:prstGeom prst="rect">
            <a:avLst/>
          </a:prstGeom>
        </p:spPr>
        <p:txBody>
          <a:bodyPr wrap="square">
            <a:noAutofit/>
          </a:bodyPr>
          <a:p>
            <a:pPr defTabSz="266700"/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三、三大健康需求产品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（一）情绪管理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（二）肠道健康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（三）心脑血管健康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​</a:t>
            </a:r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​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266700"/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845" y="3213735"/>
            <a:ext cx="3545840" cy="2246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3213100"/>
            <a:ext cx="3562350" cy="2247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185" y="3213100"/>
            <a:ext cx="3613785" cy="224726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4382135" y="5642610"/>
            <a:ext cx="343281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益生菌是绝对王者（占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76.5%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市场），酵素、膳食纤维紧随其后姜黄素、祛湿类（薏仁等）增速较快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177530" y="5642610"/>
            <a:ext cx="343281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辅酶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Q10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（最热明星，占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41.4%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）和鱼油（占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26.5%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是双巨头，增长快：纳豆激酶、水蛭蛭素、大豆卵磷脂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7875" y="5642610"/>
            <a:ext cx="343281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维生素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族（老大，占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1/3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市场）、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GABA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睡眠片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糖、酸枣仁制品、南非醉茄（天然安全受宠）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462915" y="597535"/>
            <a:ext cx="11280775" cy="485140"/>
          </a:xfrm>
          <a:solidFill>
            <a:srgbClr val="F2E7E2"/>
          </a:solidFill>
        </p:spPr>
        <p:txBody>
          <a:bodyPr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4D14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</a:t>
            </a:r>
            <a:r>
              <a:rPr lang="zh-CN" altLang="en-US" sz="2400" b="1" dirty="0">
                <a:solidFill>
                  <a:srgbClr val="4D14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月计划表</a:t>
            </a:r>
            <a:endParaRPr lang="zh-CN" altLang="en-US" sz="2400" b="1" dirty="0">
              <a:solidFill>
                <a:srgbClr val="4D143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967105" y="1758315"/>
          <a:ext cx="9404985" cy="4624070"/>
        </p:xfrm>
        <a:graphic>
          <a:graphicData uri="http://schemas.openxmlformats.org/drawingml/2006/table">
            <a:tbl>
              <a:tblPr/>
              <a:tblGrid>
                <a:gridCol w="1875155"/>
                <a:gridCol w="1828800"/>
                <a:gridCol w="5701030"/>
              </a:tblGrid>
              <a:tr h="3619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</a:t>
                      </a:r>
                      <a:endParaRPr lang="zh-CN" altLang="en-US" sz="2000" b="1" i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主要事项</a:t>
                      </a:r>
                      <a:endParaRPr lang="zh-CN" altLang="en-US" sz="2000" b="1" i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D143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i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执行计划</a:t>
                      </a:r>
                      <a:endParaRPr lang="zh-CN" altLang="en-US" sz="2000" b="1" i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4D1434"/>
                    </a:solidFill>
                  </a:tcPr>
                </a:tc>
              </a:tr>
              <a:tr h="68262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大健康业务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市场调研与品牌借鉴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全网继续搜集相关行业报告、品牌运营资料，整理提炼总结文档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435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产品供应链管理与推进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根据指示跟进新品方向及相关环节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927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寻找产品与配方开发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根据指示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寻找供应商做相关沟通（市场行情、配方开发、产品差异化相关等）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182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酒店商城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粉丝运营与相关制度</a:t>
                      </a:r>
                      <a:endParaRPr 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商城粉丝相关运营跟进与数据汇总反馈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1820">
                <a:tc vMerge="1"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后台系统与数据分析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跟进直客通平台数据优化需求（粉丝数据表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+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渠道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数据报表）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3182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用户运营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企微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朋友圈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定期互动、回复，朋友圈推送条数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月：回复私信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条、评论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条，朋友圈推送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，企微用户数：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234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0040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抖音评论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职人号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实时反馈评论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职人号每周统计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总评论数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68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好评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中差评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条；职人号：发布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7.6,&quot;left&quot;:36.6,&quot;top&quot;:179.9,&quot;width&quot;:901.85}"/>
</p:tagLst>
</file>

<file path=ppt/tags/tag2.xml><?xml version="1.0" encoding="utf-8"?>
<p:tagLst xmlns:p="http://schemas.openxmlformats.org/presentationml/2006/main">
  <p:tag name="TABLE_ENDDRAG_ORIGIN_RECT" val="740*351"/>
  <p:tag name="TABLE_ENDDRAG_RECT" val="76*138*740*351"/>
</p:tagLst>
</file>

<file path=ppt/tags/tag3.xml><?xml version="1.0" encoding="utf-8"?>
<p:tagLst xmlns:p="http://schemas.openxmlformats.org/presentationml/2006/main">
  <p:tag name="COMMONDATA" val="eyJoZGlkIjoiMzgzMTAyMzliNzMxMDkwNGJlMDk1MzBkZTc0MGFmYmUifQ=="/>
</p:tagLst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0</TotalTime>
  <Words>2059</Words>
  <Application>WPS 演示</Application>
  <PresentationFormat>宽屏</PresentationFormat>
  <Paragraphs>160</Paragraphs>
  <Slides>9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Wingdings 2</vt:lpstr>
      <vt:lpstr>Avenir Next Medium</vt:lpstr>
      <vt:lpstr>ksdb</vt:lpstr>
      <vt:lpstr>Avenir Next Demi Bold</vt:lpstr>
      <vt:lpstr>微软雅黑</vt:lpstr>
      <vt:lpstr>华文中宋</vt:lpstr>
      <vt:lpstr>Gill Sans MT</vt:lpstr>
      <vt:lpstr>Arial Unicode MS</vt:lpstr>
      <vt:lpstr>Calibri</vt:lpstr>
      <vt:lpstr>Dividend</vt:lpstr>
      <vt:lpstr>广州市万富传媒有限公司</vt:lpstr>
      <vt:lpstr>私域运营</vt:lpstr>
      <vt:lpstr>微商城整体数据</vt:lpstr>
      <vt:lpstr>微商城粉丝数据</vt:lpstr>
      <vt:lpstr>微商城粉丝数据</vt:lpstr>
      <vt:lpstr>微商城商品数据</vt:lpstr>
      <vt:lpstr>大健康业务相关调研小结（一）</vt:lpstr>
      <vt:lpstr>大健康业务相关调研小结（二）</vt:lpstr>
      <vt:lpstr>PowerPoint 演示文稿</vt:lpstr>
    </vt:vector>
  </TitlesOfParts>
  <Company>Hilton Worldwide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广州市万富传媒有限公司</dc:title>
  <dc:creator>irisyu@na.hhcpr.hilton.com</dc:creator>
  <cp:lastModifiedBy>Joe</cp:lastModifiedBy>
  <cp:revision>171</cp:revision>
  <dcterms:created xsi:type="dcterms:W3CDTF">2024-11-01T07:33:00Z</dcterms:created>
  <dcterms:modified xsi:type="dcterms:W3CDTF">2025-09-09T07:05:48Z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F0526F6CFF4F48178146B39C46FE7D1A_13</vt:lpwstr>
  </property>
  <property fmtid="{D5CDD505-2E9C-101B-9397-08002B2CF9AE}" pid="3" name="KSOProductBuildVer">
    <vt:lpwstr>2052-12.1.0.22529</vt:lpwstr>
  </property>
</Properties>
</file>