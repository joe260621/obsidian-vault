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14"/>
  </p:handoutMasterIdLst>
  <p:sldIdLst>
    <p:sldId id="256" r:id="rId3"/>
    <p:sldId id="271" r:id="rId4"/>
    <p:sldId id="272" r:id="rId5"/>
    <p:sldId id="294" r:id="rId7"/>
    <p:sldId id="301" r:id="rId8"/>
    <p:sldId id="306" r:id="rId9"/>
    <p:sldId id="307" r:id="rId10"/>
    <p:sldId id="309" r:id="rId11"/>
    <p:sldId id="310" r:id="rId12"/>
    <p:sldId id="303" r:id="rId13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92615117" name="Joe" initials="J" lastIdx="1" clrIdx="1"/>
  <p:cmAuthor id="3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1434"/>
    <a:srgbClr val="F2E7E2"/>
    <a:srgbClr val="AA5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5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600" y="5993081"/>
            <a:ext cx="10972800" cy="302896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ct val="0"/>
              </a:spcBef>
              <a:buSzTx/>
              <a:buNone/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1pPr>
            <a:lvl2pPr marL="44704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2pPr>
            <a:lvl3pPr marL="72009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3pPr>
            <a:lvl4pPr marL="99314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4pPr>
            <a:lvl5pPr marL="126619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5pPr>
          </a:lstStyle>
          <a:p>
            <a:r>
              <a:t>作者和日期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609600" y="1771650"/>
            <a:ext cx="10972800" cy="2133600"/>
          </a:xfrm>
          <a:prstGeom prst="rect">
            <a:avLst/>
          </a:prstGeom>
        </p:spPr>
        <p:txBody>
          <a:bodyPr anchor="b"/>
          <a:lstStyle>
            <a:lvl1pPr>
              <a:defRPr sz="6400" spc="-128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9600" y="3783790"/>
            <a:ext cx="10972800" cy="1125297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ct val="0"/>
              </a:spcBef>
              <a:buSzTx/>
              <a:buNone/>
              <a:defRPr sz="3000" spc="-100">
                <a:latin typeface="Avenir Next Demi Bold" panose="020B0503020202020204"/>
                <a:ea typeface="Avenir Next Demi Bold" panose="020B0503020202020204"/>
                <a:cs typeface="Avenir Next Demi Bold" panose="020B0503020202020204"/>
                <a:sym typeface="Avenir Next Demi Bold" panose="020B0503020202020204"/>
              </a:defRPr>
            </a:lvl1pPr>
          </a:lstStyle>
          <a:p>
            <a:r>
              <a:t>演示文稿副标题</a:t>
            </a:r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95670" y="6342380"/>
            <a:ext cx="204471" cy="2222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 userDrawn="1"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 userDrawn="1"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广州市万富传媒有限公司</a:t>
            </a:r>
            <a:endParaRPr lang="zh-CN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月度汇报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私域运营</a:t>
            </a:r>
            <a:endParaRPr lang="zh-CN" alt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Owned channels followers management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669290"/>
            <a:ext cx="11029315" cy="84137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微商城整体数据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464820" y="4959350"/>
            <a:ext cx="11035030" cy="148590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06/01-06/30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、微商城访客人数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247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，下单笔数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人，环比分别下跌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36.83%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5%</a:t>
            </a:r>
            <a:b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、微商城客单价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671.27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元，下单金额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8,600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元，环比分别上涨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4.5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和下跌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1.68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分析：访客数、下单金额下跌受商城转移的影响（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6.20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迁移到直客通平台）</a:t>
            </a:r>
            <a:endParaRPr lang="zh-CN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建议：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迁移后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会员日限时活动（会员专属折扣、消费积分翻倍、优惠券礼包、限量秒杀），并打通企微场景，增加会员下单场景与福利权益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004695"/>
            <a:ext cx="10839450" cy="2847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微商城会员数据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31175" y="2236681"/>
            <a:ext cx="3479165" cy="3613785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06/01-06/30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、累积</a:t>
            </a:r>
            <a:r>
              <a:rPr 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会员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1,630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人，环比上涨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1.37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endParaRPr lang="en-US" altLang="zh-CN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、访问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会员数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人，环比下跌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endParaRPr kumimoji="0" 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、成交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会员数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人、环比下跌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11.11%</a:t>
            </a:r>
            <a:b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分析：</a:t>
            </a:r>
            <a:b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商城的迁移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会员专属特权较少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建议：</a:t>
            </a:r>
            <a:b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（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）不同</a:t>
            </a:r>
            <a:r>
              <a:rPr 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会员增加不同权益，如不同倍数的消费积分、等级越高，增值服务越多（消费折扣、生日礼遇、就餐、会议、房型免费附加服务等）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）​丰富积分商城产品（停车券、下午茶、葡萄酒、酒店礼品等）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65" y="2106295"/>
            <a:ext cx="3627755" cy="3568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535" y="2106295"/>
            <a:ext cx="3448050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微商城商品数据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6405" y="5034279"/>
            <a:ext cx="10819130" cy="1705187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06/01-06/30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、商品浏览量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939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，商品访客数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161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，环比分别下跌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40.94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51.65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endParaRPr lang="en-US" altLang="zh-CN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商品下单件数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，支付件数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，环比分别上涨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4.17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4.55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Top3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商品分别来自</a:t>
            </a:r>
            <a:r>
              <a:rPr lang="zh-CN" altLang="en-US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自助餐厅的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海鲜自助晚餐、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中餐厅的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广式烧味辽参四人餐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和客房版块的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希尔顿客房含双早双晚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分析：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Top3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商品除长期占榜的餐厅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款产品，还新增了客房产品，访客转化率为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8.33%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个访客，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个支付）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：餐饮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每个版块设置限量秒杀产品，也可以定期上线康体中心和客房相关产品，增加商城品类丰富度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405" y="2242820"/>
            <a:ext cx="4639945" cy="19361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805" y="1902460"/>
            <a:ext cx="3928745" cy="305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商城会员计划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私域基础搭建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58520" y="2160270"/>
          <a:ext cx="10069195" cy="3474720"/>
        </p:xfrm>
        <a:graphic>
          <a:graphicData uri="http://schemas.openxmlformats.org/drawingml/2006/table">
            <a:tbl>
              <a:tblPr/>
              <a:tblGrid>
                <a:gridCol w="2413635"/>
                <a:gridCol w="7655560"/>
              </a:tblGrid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步骤</a:t>
                      </a:r>
                      <a:endParaRPr lang="zh-CN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操作要点</a:t>
                      </a:r>
                      <a:endParaRPr lang="zh-CN" sz="16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​1. 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企微授权直客通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项配置：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绑定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开放平台授权（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对接）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设置「直客通商户版」聊天工具栏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配置客户资料面板（显示会员等级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积分）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​2. 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客户标签自动化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系统打标逻辑：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消费能力标签（普通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万富卡）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行为标签（储值卡余额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积分到期提醒）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场景标签（亲子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商务）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​3. 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渠道活码部署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自助餐厅、中餐厅、大堂吧场景放置专属二维码：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餐厅：餐桌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A6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三角立板台卡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收银台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A4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立牌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366135" y="5972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直客通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企微融合系统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商城会员计划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会员体系线上化落地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25" y="1781175"/>
            <a:ext cx="6459855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901180" y="1877060"/>
            <a:ext cx="5080000" cy="4097655"/>
          </a:xfrm>
          <a:prstGeom prst="rect">
            <a:avLst/>
          </a:prstGeom>
        </p:spPr>
        <p:txBody>
          <a:bodyPr>
            <a:spAutoFit/>
          </a:bodyPr>
          <a:p>
            <a:pPr algn="l" defTabSz="266700"/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积分商城运营策略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AutoNum type="arabicPlain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、现有积分商城产品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）酌宴府招牌烤乳鸽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5000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积分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）生日蛋糕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磅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积分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）周末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节假日单人自助午餐（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18000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积分）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）海鲜自助餐（周一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周四）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27000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积分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）健身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游泳体检次卡（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28000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积分）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小时停车券（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3000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积分）</a:t>
            </a:r>
            <a:endParaRPr lang="zh-CN" alt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）单人下午茶套餐（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5000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积分）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）双人下午茶套餐（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16800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积分）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）智利葡萄酒（红酒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白酒可选）（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16800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积分）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）大堂吧商务套餐（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12000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积分）</a:t>
            </a:r>
            <a:endParaRPr lang="zh-CN" alt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开门见喜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礼盒（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48000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积分）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defTabSz="26670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、积分过期促升单：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企微推送：「您的积分将过期，再消费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元可升金卡享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倍积分」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商城会员计划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会员运营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2595" y="1824673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pPr algn="l" defTabSz="266700"/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（一）客户生命周期运营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81025" y="2364740"/>
          <a:ext cx="11029315" cy="4123690"/>
        </p:xfrm>
        <a:graphic>
          <a:graphicData uri="http://schemas.openxmlformats.org/drawingml/2006/table">
            <a:tbl>
              <a:tblPr/>
              <a:tblGrid>
                <a:gridCol w="1187450"/>
                <a:gridCol w="8109585"/>
                <a:gridCol w="1732280"/>
              </a:tblGrid>
              <a:tr h="45275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</a:t>
                      </a:r>
                      <a:endParaRPr lang="zh-CN" sz="12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执行动作</a:t>
                      </a:r>
                      <a:endParaRPr lang="zh-CN" sz="12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触发条件</a:t>
                      </a:r>
                      <a:endParaRPr lang="zh-CN" sz="12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235267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 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新客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11430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企微设置发送：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优惠券礼包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商城满减券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*2(799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,399 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-50 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商城 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元无 门槛券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*1+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专属折扣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会员日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秒杀活动文案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引导扫码参考话术：</a:t>
                      </a:r>
                      <a:endParaRPr lang="zh-CN" sz="1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“先生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女士，扫码添加企微可解锁三大会员特权：</a:t>
                      </a:r>
                      <a:b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①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消费积分兑高端体验（如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28,000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分换双人海鲜自助）</a:t>
                      </a:r>
                      <a:b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②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生日当天餐饮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积分翻倍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​​</a:t>
                      </a:r>
                      <a:b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③ 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每月会员日抢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9.9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元爆品（如本周二开抢乳鸽）</a:t>
                      </a:r>
                      <a:b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现在添加还赠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优惠券大礼包</a:t>
                      </a:r>
                      <a:r>
                        <a:rPr lang="en-US" altLang="zh-CN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</a:t>
                      </a:r>
                      <a:r>
                        <a:rPr lang="zh-CN" altLang="en-US" sz="1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，我帮您操作？”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扫码入企微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复购客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alt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推送「差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元升卡」提醒、定期发送会员日与会员权益相关内容</a:t>
                      </a:r>
                      <a:b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每月定期发放满减券（如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399-50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）等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消费接近升级门槛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沉睡客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生日前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天推送蛋糕免费领权益（限黑金卡、万富卡）等，定期发送会员日活动与会员权益相关内容</a:t>
                      </a:r>
                      <a:endParaRPr lang="zh-CN" altLang="en-US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生日标签触发</a:t>
                      </a:r>
                      <a:endParaRPr lang="zh-CN" sz="14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52400" marR="152400" marT="114300" marB="114300" anchor="ctr" anchorCtr="0">
                    <a:lnL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商城会员计划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会员运营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SOP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2595" y="1824673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pPr algn="l" defTabSz="266700"/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（二）会员日</a:t>
            </a:r>
            <a:r>
              <a:rPr lang="en-US" altLang="zh-CN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0">
                <a:latin typeface="微软雅黑" panose="020B0503020204020204" pitchFamily="34" charset="-122"/>
                <a:ea typeface="微软雅黑" panose="020B0503020204020204" pitchFamily="34" charset="-122"/>
              </a:rPr>
              <a:t>生日强化</a:t>
            </a:r>
            <a:endParaRPr lang="zh-CN" altLang="en-US" sz="1400" b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0250" y="2230755"/>
            <a:ext cx="11006455" cy="41960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、会员日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）企微全员推送「积分翻倍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秒杀」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1-1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）专属折扣，酒店餐饮产品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折（限线下门市价消费）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）限量秒杀（产品每月定期轮换）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中餐厅：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 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）玫瑰红茶爆珠蛋挞：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9.9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元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    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）顺德鱼蓉羹 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19.9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                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）招牌双人茉莉香薰乳鸽套餐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  208/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套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自助餐厅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大堂吧：（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）健康轻食商务套餐：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59.9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元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  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）咖啡兑换券（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次）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39.9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                  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）工作日自助晚餐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特价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199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份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健身中心：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      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）健身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游泳体检次卡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次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  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）单件洗衣券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19.9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份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、生日权益：系统自动识别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后台筛选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推送对应等级权益（如黑金卡、万富卡到店消费送蛋糕）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62915" y="597535"/>
            <a:ext cx="11280775" cy="485140"/>
          </a:xfrm>
          <a:solidFill>
            <a:srgbClr val="F2E7E2"/>
          </a:solidFill>
        </p:spPr>
        <p:txBody>
          <a:bodyPr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D1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2400" b="1" dirty="0">
                <a:solidFill>
                  <a:srgbClr val="4D1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月计划表</a:t>
            </a:r>
            <a:endParaRPr lang="zh-CN" altLang="en-US" sz="2400" b="1" dirty="0">
              <a:solidFill>
                <a:srgbClr val="4D14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967105" y="1758315"/>
          <a:ext cx="9404985" cy="4227830"/>
        </p:xfrm>
        <a:graphic>
          <a:graphicData uri="http://schemas.openxmlformats.org/drawingml/2006/table">
            <a:tbl>
              <a:tblPr/>
              <a:tblGrid>
                <a:gridCol w="1875155"/>
                <a:gridCol w="1828800"/>
                <a:gridCol w="5701030"/>
              </a:tblGrid>
              <a:tr h="3962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主要事项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执行计划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</a:tr>
              <a:tr h="44577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大健康业务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寻找产品与寄样试口感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寻找促排纤体、养发乌发、助眠抗衰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款饮料产品供应商并沟通寄样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290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销售渠道搭建前置咨询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咨询并确认香港主体在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Logo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使用、各平台注册与运营等相关问题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8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产品供应链管理与推进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新品确定、设计、生产等相关环节推进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酒店商城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会员运营与相关制度</a:t>
                      </a:r>
                      <a:endParaRPr 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商城新会员制度设置与相关运营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Sop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跟进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563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用户运营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企微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朋友圈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粉丝运营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定期互动、回复，朋友圈推送条数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月：回复私信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条、评论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条，朋友圈推送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，企微用户数：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05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抖音评论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职人号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实时反馈评论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职人号每周统计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总评论数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好评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中差评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条；职人号：暂时无人发布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56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天河希尔顿达人版块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达人探店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20-30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月，达播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((6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:1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组达人探店；达播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7.6,&quot;left&quot;:36.6,&quot;top&quot;:179.9,&quot;width&quot;:901.85}"/>
</p:tagLst>
</file>

<file path=ppt/tags/tag2.xml><?xml version="1.0" encoding="utf-8"?>
<p:tagLst xmlns:p="http://schemas.openxmlformats.org/presentationml/2006/main">
  <p:tag name="TABLE_ENDDRAG_ORIGIN_RECT" val="623*312"/>
  <p:tag name="TABLE_ENDDRAG_RECT" val="152*198*623*312"/>
</p:tagLst>
</file>

<file path=ppt/tags/tag3.xml><?xml version="1.0" encoding="utf-8"?>
<p:tagLst xmlns:p="http://schemas.openxmlformats.org/presentationml/2006/main">
  <p:tag name="TABLE_ENDDRAG_ORIGIN_RECT" val="868*324"/>
  <p:tag name="TABLE_ENDDRAG_RECT" val="45*186*868*324"/>
</p:tagLst>
</file>

<file path=ppt/tags/tag4.xml><?xml version="1.0" encoding="utf-8"?>
<p:tagLst xmlns:p="http://schemas.openxmlformats.org/presentationml/2006/main">
  <p:tag name="TABLE_ENDDRAG_ORIGIN_RECT" val="888*393"/>
  <p:tag name="TABLE_ENDDRAG_RECT" val="36*96*888*393"/>
</p:tagLst>
</file>

<file path=ppt/tags/tag5.xml><?xml version="1.0" encoding="utf-8"?>
<p:tagLst xmlns:p="http://schemas.openxmlformats.org/presentationml/2006/main">
  <p:tag name="COMMONDATA" val="eyJoZGlkIjoiMzgzMTAyMzliNzMxMDkwNGJlMDk1MzBkZTc0MGFmYmUifQ==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0</TotalTime>
  <Words>2367</Words>
  <Application>WPS 演示</Application>
  <PresentationFormat>宽屏</PresentationFormat>
  <Paragraphs>176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Wingdings 2</vt:lpstr>
      <vt:lpstr>Avenir Next Medium</vt:lpstr>
      <vt:lpstr>ksdb</vt:lpstr>
      <vt:lpstr>Avenir Next Demi Bold</vt:lpstr>
      <vt:lpstr>微软雅黑</vt:lpstr>
      <vt:lpstr>Times New Roman</vt:lpstr>
      <vt:lpstr>华文中宋</vt:lpstr>
      <vt:lpstr>Gill Sans MT</vt:lpstr>
      <vt:lpstr>Arial Unicode MS</vt:lpstr>
      <vt:lpstr>Calibri</vt:lpstr>
      <vt:lpstr>Dividend</vt:lpstr>
      <vt:lpstr>广州市万富传媒有限公司</vt:lpstr>
      <vt:lpstr>私域运营</vt:lpstr>
      <vt:lpstr>微商城整体数据</vt:lpstr>
      <vt:lpstr>微商城会员数据</vt:lpstr>
      <vt:lpstr>微商城商品数据</vt:lpstr>
      <vt:lpstr>商城会员计划-私域基础搭建</vt:lpstr>
      <vt:lpstr>商城会员计划-会员体系线上化落地</vt:lpstr>
      <vt:lpstr>商城会员计划-会员运营SOP</vt:lpstr>
      <vt:lpstr>商城会员计划-会员运营SOP</vt:lpstr>
      <vt:lpstr>PowerPoint 演示文稿</vt:lpstr>
    </vt:vector>
  </TitlesOfParts>
  <Company>Hilton Worldwide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广州市万富传媒有限公司</dc:title>
  <dc:creator>irisyu@na.hhcpr.hilton.com</dc:creator>
  <cp:lastModifiedBy>Joe</cp:lastModifiedBy>
  <cp:revision>124</cp:revision>
  <dcterms:created xsi:type="dcterms:W3CDTF">2024-11-01T07:33:00Z</dcterms:created>
  <dcterms:modified xsi:type="dcterms:W3CDTF">2025-07-09T09:55:12Z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C721FE5F520A4AB4B49FD553CC96934E_13</vt:lpwstr>
  </property>
  <property fmtid="{D5CDD505-2E9C-101B-9397-08002B2CF9AE}" pid="3" name="KSOProductBuildVer">
    <vt:lpwstr>2052-12.1.0.21915</vt:lpwstr>
  </property>
</Properties>
</file>