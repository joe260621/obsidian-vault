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16"/>
  </p:handoutMasterIdLst>
  <p:sldIdLst>
    <p:sldId id="256" r:id="rId3"/>
    <p:sldId id="271" r:id="rId4"/>
    <p:sldId id="272" r:id="rId5"/>
    <p:sldId id="294" r:id="rId7"/>
    <p:sldId id="311" r:id="rId8"/>
    <p:sldId id="301" r:id="rId9"/>
    <p:sldId id="312" r:id="rId10"/>
    <p:sldId id="314" r:id="rId11"/>
    <p:sldId id="313" r:id="rId12"/>
    <p:sldId id="315" r:id="rId13"/>
    <p:sldId id="316" r:id="rId14"/>
    <p:sldId id="303" r:id="rId15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92615117" name="Joe" initials="J" lastIdx="1" clrIdx="1"/>
  <p:cmAuthor id="3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34"/>
    <a:srgbClr val="F2E7E2"/>
    <a:srgbClr val="AA5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7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5993081"/>
            <a:ext cx="10972800" cy="302896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ct val="0"/>
              </a:spcBef>
              <a:buSzTx/>
              <a:buNone/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1pPr>
            <a:lvl2pPr marL="4470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2pPr>
            <a:lvl3pPr marL="7200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3pPr>
            <a:lvl4pPr marL="9931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4pPr>
            <a:lvl5pPr marL="12661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5pPr>
          </a:lstStyle>
          <a:p>
            <a:r>
              <a:t>作者和日期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09600" y="1771650"/>
            <a:ext cx="10972800" cy="2133600"/>
          </a:xfrm>
          <a:prstGeom prst="rect">
            <a:avLst/>
          </a:prstGeom>
        </p:spPr>
        <p:txBody>
          <a:bodyPr anchor="b"/>
          <a:lstStyle>
            <a:lvl1pPr>
              <a:defRPr sz="6400" spc="-128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3783790"/>
            <a:ext cx="10972800" cy="1125297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3000" spc="-100">
                <a:latin typeface="Avenir Next Demi Bold" panose="020B0503020202020204"/>
                <a:ea typeface="Avenir Next Demi Bold" panose="020B0503020202020204"/>
                <a:cs typeface="Avenir Next Demi Bold" panose="020B0503020202020204"/>
                <a:sym typeface="Avenir Next Demi Bold" panose="020B0503020202020204"/>
              </a:defRPr>
            </a:lvl1pPr>
          </a:lstStyle>
          <a:p>
            <a:r>
              <a:t>演示文稿副标题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5670" y="6342380"/>
            <a:ext cx="204471" cy="2222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广州市万富传媒有限公司</a:t>
            </a:r>
            <a:endParaRPr lang="zh-CN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月度汇报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私域运营</a:t>
            </a:r>
            <a:endParaRPr lang="zh-CN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Owned channels followers management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669290"/>
            <a:ext cx="11029315" cy="84137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微商城整体数据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464820" y="4959350"/>
            <a:ext cx="11035030" cy="140589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09/01-09/30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访客人数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4,835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，下单单数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689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123.64%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68.87%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、微商城客单价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2,592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付款金额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1,034,133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203.51%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和上涨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437.88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%,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（核销金额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304,863.55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月的秋促活动有效的提高了访客人数和产品的销售转化。活动期间，访客人数为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3010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，下单单数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491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，付款金额为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938,683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元；其中，游泳健身卡、自助餐套票、餐饮储值卡等高客单价产品提高了整体的客单价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130" y="3097530"/>
            <a:ext cx="6303010" cy="13157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2969260"/>
            <a:ext cx="4892675" cy="1443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微商城粉丝数据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92465" y="2236470"/>
            <a:ext cx="3420745" cy="444119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09/01-09/30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、累积</a:t>
            </a:r>
            <a:r>
              <a:rPr 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粉丝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65,800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，新增粉丝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1,499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购买粉丝数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381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，消费金额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1,034,133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购买粉丝中，普通卡粉丝在人数最多，为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人，黑金卡第二，为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人，而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消费金额最多，是黑金卡，为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390,724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元，普通卡粉丝第二，消费金额为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350,817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</a:t>
            </a:r>
            <a:b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、普通卡粉丝为浏览类型粉丝，受促销影响大，占比量多，但用户画像模糊，建议设置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定期回访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绑定手机号有礼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等活动，完善该类粉丝用户画像和实际需求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提高该类粉丝等级升级率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、粉丝等级越高，复购率越高，客单价也越高，可为不同等级粉丝设置相应活动或会员价格，提高等级的权益价值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720" y="2165350"/>
            <a:ext cx="3854450" cy="20485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175" y="2235835"/>
            <a:ext cx="3733165" cy="18821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" y="4493895"/>
            <a:ext cx="8037195" cy="1946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微商城粉丝数据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52460" y="2236470"/>
            <a:ext cx="3479165" cy="3715385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09/01-09/30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粉丝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升级人数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金卡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升级人数最多，为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人，黑金卡次之，为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、购买粉丝数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381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人，其中，复购粉丝数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174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人，复购率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46%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，复购金额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686,886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元，复购金额占比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档粉丝等级中，普通卡粉丝较上月活跃，升级至金卡的人数最多，金卡用户次之，而万富卡虽升级人数仅为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人，但该卡客月单消费为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9,020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元，为所有等级最高，可丰富黑金卡、万富卡等级权益，增加该卡类升级人数，提高商城整体的消费金额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15" y="2128520"/>
            <a:ext cx="7742555" cy="2037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5" y="4542790"/>
            <a:ext cx="785241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微商城商品数据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67170" y="2378710"/>
            <a:ext cx="5161915" cy="370078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09/01-09/30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、商品浏览量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10,413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，商品访客数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6,357</a:t>
            </a:r>
            <a:endParaRPr lang="en-US" alt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商品销量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271.54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商品来自康体中心的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次健身游泳卡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健身游泳时段年卡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和自助餐厅的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次套票</a:t>
            </a:r>
            <a:endParaRPr lang="zh-CN" altLang="en-US" sz="12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分析与建议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、购买金额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Top10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中，自助餐餐厅产品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个，中餐厅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个，康体中心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个，其中单人自助晚餐产品访问客户和整体销量最多，分别为</a:t>
            </a:r>
            <a:r>
              <a:rPr 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520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人和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154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单</a:t>
            </a:r>
            <a:endParaRPr 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、康体中心类产品客单价高，销量较好，但下单客户大部分为老用户，可新增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老带新活动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，吸引新客户（如邀请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位新客（实名认证），邀请者和被邀请者皆可获得赠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健身游泳体验券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大堂吧蛋糕券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张等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2378710"/>
            <a:ext cx="5944235" cy="363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大健康业务相关调研之安利品牌简析（一）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215" y="2533650"/>
            <a:ext cx="4257675" cy="3582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大健康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美好生活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全场景覆盖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​​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价值内核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年提出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美好生活之花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模型，涵盖身体健康、情绪健康、财务保障等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大维度，覆盖生活全场景，强调悦己消费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场景落地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：以上海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美花体验馆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为例，融合健康检测、轻食社交、创业沙龙，打造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情感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三位一体的沉浸空间，推动用户从消费者转化为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生活提案者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用户心智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：通过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宝妈健身社群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创业者联盟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等垂直社群，强化情绪价值，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年品牌好感度较两年前提升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17%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5088890" y="2422525"/>
          <a:ext cx="6522720" cy="3693795"/>
        </p:xfrm>
        <a:graphic>
          <a:graphicData uri="http://schemas.openxmlformats.org/drawingml/2006/table">
            <a:tbl>
              <a:tblPr/>
              <a:tblGrid>
                <a:gridCol w="2174240"/>
                <a:gridCol w="2174240"/>
                <a:gridCol w="2174240"/>
              </a:tblGrid>
              <a:tr h="627380">
                <a:tc>
                  <a:txBody>
                    <a:bodyPr/>
                    <a:p>
                      <a:pPr marL="0" indent="25400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</a:t>
                      </a:r>
                      <a:endParaRPr 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布局规模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核心策略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9067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线下体验店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80+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国市场，中国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130+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家店铺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“美花体验馆”融合健康检测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轻食社交，转化消费者为“生活提案者”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线上平台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安利云购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、微信小程序、天猫旗舰店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客服日处理百万咨询，个性化推荐提升转化率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67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直销团队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万活跃营销人员（中国为主）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“安利助手”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赋能独立事业主（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IBOs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），线上培训覆盖率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3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跨界合作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与腾讯、阿里探索元宇宙直销场景</a:t>
                      </a:r>
                      <a:endParaRPr 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亚太市场贡献全球九大核心市场（中国占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40%+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营收）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大健康业务相关调研之安利品牌简析（二）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449705" y="2491740"/>
          <a:ext cx="9366885" cy="3665855"/>
        </p:xfrm>
        <a:graphic>
          <a:graphicData uri="http://schemas.openxmlformats.org/drawingml/2006/table">
            <a:tbl>
              <a:tblPr/>
              <a:tblGrid>
                <a:gridCol w="2099945"/>
                <a:gridCol w="2100580"/>
                <a:gridCol w="1282065"/>
                <a:gridCol w="2024380"/>
                <a:gridCol w="1859915"/>
              </a:tblGrid>
              <a:tr h="4476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2025</a:t>
                      </a:r>
                      <a:r>
                        <a:rPr lang="zh-CN" altLang="en-US" sz="14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年主推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产品名称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剂型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主推概念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渠道重点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4389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纽崔莱基源欣活饮品</a:t>
                      </a:r>
                      <a:endParaRPr 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液体饮品（疗程装）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849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细胞焕活、抗衰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云购小程序、线下体验馆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2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纽崔莱酸枣仁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γ-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氨基丁酸片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片剂（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398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改善睡眠、舒缓压力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私域社群、直播带货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纽崔莱复合益生菌固体饮料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固体饮料（独立条包）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299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肠道健康、免疫支持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KOL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、家庭套餐捆绑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2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雅姿小橘灯精华</a:t>
                      </a:r>
                      <a:endParaRPr 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精华液（玻尿酸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550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抗氧亮肤、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天焕亮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天猫旗舰店、线下美妆快闪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益之源净水器（新一代）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智能净水设备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6980~7499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UV-C LED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杀菌、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监控水质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直销团队、跨境电商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大健康业务相关调研之无限极品牌简析（一）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4690" y="2437765"/>
            <a:ext cx="5401310" cy="390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以中医文化为基石的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新平衡主义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”​​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价值内核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年提出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新平衡主义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，主张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身体平衡（中草药科技）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生活平衡（四合理生活方式）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，呼应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世代对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身心和谐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的追求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文化武器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：依托李锦记百年品牌背书，联合剑桥、哈佛等机构研发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植物甙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复合多糖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等专利技术，将中医理论转化为可量化功效（如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敏肌金盒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周湿疹减少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23%”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民族叙事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：通过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茯苓之乡溯源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秦岭灵芝探访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等文化营销，绑定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国潮养生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标签，吸引传统文化认同者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6009640" y="2346960"/>
          <a:ext cx="5600700" cy="367665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</a:tblGrid>
              <a:tr h="80581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布局规模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核心策略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8636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实体店铺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中国超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10,000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家门店（行业第一）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三四线城市全覆盖，门店兼具产品展销与健康咨询功能</a:t>
                      </a:r>
                      <a:endParaRPr 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42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直销团队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未公开具体人数（奖金拨出率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42%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，高于安利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32%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低门槛创业（连续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月消费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498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元即可加盟），业绩累积制无归零压力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29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线上电商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天猫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京东旗舰店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自营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联名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lost in echo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推时尚礼盒，快闪店单场引流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5000+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人次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大健康业务相关调研之无限极品牌简析（二）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4075" y="2171700"/>
          <a:ext cx="10483850" cy="405765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6762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2025</a:t>
                      </a:r>
                      <a:r>
                        <a:rPr lang="zh-CN" altLang="en-US" sz="14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年主推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产品名称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剂型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价格（元）</a:t>
                      </a:r>
                      <a:endParaRPr 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主推概念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渠道重点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养固健轻湿片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片剂（祛湿配方）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未公开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中式祛湿、十年专研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中华养生客厅、私域社群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养固健立迈健氨糖软骨素片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片剂（关节养护）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未公开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中式护关节、软骨修复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线下万店、国风盛典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心维雅全新洁面乳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面霜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膏霜类（保湿抗衰）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未公开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植物萃取、屏障修护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门店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轻检测、公域引流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植雅防脱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洗发水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精华（持防脱特证）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未公开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强健固发、持证安全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燎原计划社群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维康素片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片剂（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粒）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192~225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护肝熬夜、调节代谢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京东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淘宝专营店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95250" marB="9525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大健康业务相关调研之相关借鉴点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2825" y="2498090"/>
            <a:ext cx="10195560" cy="3623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、价值定位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挖掘一个精准的细分场景（如熬夜护肝、情绪舒压、产后修复）或一种强烈的价值观（如环保、极简、科技范），并围绕此构建整个品牌故事和产品体系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、产品研发：构建属于自己的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信任壁垒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”​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）联名研发：与知名高校、研究机构、三甲医院或专家博士合作，为产品背书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）成分创新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故事化：挖掘独特、有故事的功效成分（如特定产地的特色植物提取物），并讲好它的来源和科学故事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）持有特证：尽可能申请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蓝帽子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（保健食品标志）或其他行业特证，这是最直接的信任状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62915" y="597535"/>
            <a:ext cx="11280775" cy="485140"/>
          </a:xfrm>
          <a:solidFill>
            <a:srgbClr val="F2E7E2"/>
          </a:solidFill>
        </p:spPr>
        <p:txBody>
          <a:bodyPr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月计划表</a:t>
            </a:r>
            <a:endParaRPr lang="zh-CN" altLang="en-US" sz="2400" b="1" dirty="0">
              <a:solidFill>
                <a:srgbClr val="4D14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67105" y="1758315"/>
          <a:ext cx="9404985" cy="4624070"/>
        </p:xfrm>
        <a:graphic>
          <a:graphicData uri="http://schemas.openxmlformats.org/drawingml/2006/table">
            <a:tbl>
              <a:tblPr/>
              <a:tblGrid>
                <a:gridCol w="1875155"/>
                <a:gridCol w="1828800"/>
                <a:gridCol w="5701030"/>
              </a:tblGrid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主要事项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执行计划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</a:tr>
              <a:tr h="682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大健康业务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市场调研与品牌借鉴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全网继续搜集相关行业报告、品牌运营资料，整理提炼总结文档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43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产品供应链管理与推进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根据指示跟进新品方向及相关环节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92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寻找产品与配方开发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根据指示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寻找供应商做相关沟通（市场行情、配方开发、产品差异化相关等）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8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酒店商城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粉丝运营与相关制度</a:t>
                      </a:r>
                      <a:endParaRPr 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商城粉丝相关运营跟进与数据汇总反馈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820">
                <a:tc vMerge="1"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后台系统与数据分析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跟进直客通平台数据优化需求（粉丝数据表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渠道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数据报表）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18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用户运营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朋友圈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定期互动、回复，朋友圈推送条数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月：回复私信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条、评论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条，朋友圈推送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，企微用户数：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04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实时反馈评论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职人号每周统计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月：总评论数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中差评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条；职人号：发布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6,&quot;left&quot;:36.6,&quot;top&quot;:179.9,&quot;width&quot;:901.85}"/>
</p:tagLst>
</file>

<file path=ppt/tags/tag2.xml><?xml version="1.0" encoding="utf-8"?>
<p:tagLst xmlns:p="http://schemas.openxmlformats.org/presentationml/2006/main">
  <p:tag name="TABLE_ENDDRAG_ORIGIN_RECT" val="513*290"/>
  <p:tag name="TABLE_ENDDRAG_RECT" val="400*190*513*290"/>
</p:tagLst>
</file>

<file path=ppt/tags/tag3.xml><?xml version="1.0" encoding="utf-8"?>
<p:tagLst xmlns:p="http://schemas.openxmlformats.org/presentationml/2006/main">
  <p:tag name="TABLE_ENDDRAG_ORIGIN_RECT" val="741*288"/>
  <p:tag name="TABLE_ENDDRAG_RECT" val="79*180*741*288"/>
</p:tagLst>
</file>

<file path=ppt/tags/tag4.xml><?xml version="1.0" encoding="utf-8"?>
<p:tagLst xmlns:p="http://schemas.openxmlformats.org/presentationml/2006/main">
  <p:tag name="TABLE_ENDDRAG_ORIGIN_RECT" val="441*289"/>
  <p:tag name="TABLE_ENDDRAG_RECT" val="473*202*441*289"/>
</p:tagLst>
</file>

<file path=ppt/tags/tag5.xml><?xml version="1.0" encoding="utf-8"?>
<p:tagLst xmlns:p="http://schemas.openxmlformats.org/presentationml/2006/main">
  <p:tag name="TABLE_ENDDRAG_ORIGIN_RECT" val="825*319"/>
  <p:tag name="TABLE_ENDDRAG_RECT" val="67*171*825*319"/>
</p:tagLst>
</file>

<file path=ppt/tags/tag6.xml><?xml version="1.0" encoding="utf-8"?>
<p:tagLst xmlns:p="http://schemas.openxmlformats.org/presentationml/2006/main">
  <p:tag name="TABLE_ENDDRAG_ORIGIN_RECT" val="740*351"/>
  <p:tag name="TABLE_ENDDRAG_RECT" val="76*138*740*351"/>
</p:tagLst>
</file>

<file path=ppt/tags/tag7.xml><?xml version="1.0" encoding="utf-8"?>
<p:tagLst xmlns:p="http://schemas.openxmlformats.org/presentationml/2006/main">
  <p:tag name="COMMONDATA" val="eyJoZGlkIjoiMzgzMTAyMzliNzMxMDkwNGJlMDk1MzBkZTc0MGFmYmUifQ==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0</TotalTime>
  <Words>3099</Words>
  <Application>WPS 演示</Application>
  <PresentationFormat>宽屏</PresentationFormat>
  <Paragraphs>307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Wingdings 2</vt:lpstr>
      <vt:lpstr>Avenir Next Medium</vt:lpstr>
      <vt:lpstr>ksdb</vt:lpstr>
      <vt:lpstr>Avenir Next Demi Bold</vt:lpstr>
      <vt:lpstr>微软雅黑</vt:lpstr>
      <vt:lpstr>华文中宋</vt:lpstr>
      <vt:lpstr>Gill Sans MT</vt:lpstr>
      <vt:lpstr>Arial Unicode MS</vt:lpstr>
      <vt:lpstr>Calibri</vt:lpstr>
      <vt:lpstr>Dividend</vt:lpstr>
      <vt:lpstr>广州市万富传媒有限公司</vt:lpstr>
      <vt:lpstr>私域运营</vt:lpstr>
      <vt:lpstr>微商城整体数据</vt:lpstr>
      <vt:lpstr>微商城粉丝数据</vt:lpstr>
      <vt:lpstr>微商城粉丝数据</vt:lpstr>
      <vt:lpstr>微商城商品数据</vt:lpstr>
      <vt:lpstr>大健康业务相关调研之安利品牌简析（一）</vt:lpstr>
      <vt:lpstr>大健康业务相关调研之安利品牌简析（二）</vt:lpstr>
      <vt:lpstr>大健康业务相关调研之无限极品牌简析（一）</vt:lpstr>
      <vt:lpstr>大健康业务相关调研之无限极品牌简析（二）</vt:lpstr>
      <vt:lpstr>大健康业务相关调研之相关借鉴点</vt:lpstr>
      <vt:lpstr>PowerPoint 演示文稿</vt:lpstr>
    </vt:vector>
  </TitlesOfParts>
  <Company>Hilton Worldwide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广州市万富传媒有限公司</dc:title>
  <dc:creator>irisyu@na.hhcpr.hilton.com</dc:creator>
  <cp:lastModifiedBy>Joe</cp:lastModifiedBy>
  <cp:revision>175</cp:revision>
  <dcterms:created xsi:type="dcterms:W3CDTF">2024-11-01T07:33:00Z</dcterms:created>
  <dcterms:modified xsi:type="dcterms:W3CDTF">2025-10-09T03:11:07Z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79CE29F612254DE39D13CAD083700D1E_13</vt:lpwstr>
  </property>
  <property fmtid="{D5CDD505-2E9C-101B-9397-08002B2CF9AE}" pid="3" name="KSOProductBuildVer">
    <vt:lpwstr>2052-12.1.0.22529</vt:lpwstr>
  </property>
</Properties>
</file>